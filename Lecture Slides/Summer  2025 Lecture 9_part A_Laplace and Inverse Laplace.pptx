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6"/>
  </p:notesMasterIdLst>
  <p:handoutMasterIdLst>
    <p:handoutMasterId r:id="rId37"/>
  </p:handoutMasterIdLst>
  <p:sldIdLst>
    <p:sldId id="256" r:id="rId2"/>
    <p:sldId id="292" r:id="rId3"/>
    <p:sldId id="293" r:id="rId4"/>
    <p:sldId id="294" r:id="rId5"/>
    <p:sldId id="316" r:id="rId6"/>
    <p:sldId id="295" r:id="rId7"/>
    <p:sldId id="297" r:id="rId8"/>
    <p:sldId id="296" r:id="rId9"/>
    <p:sldId id="269" r:id="rId10"/>
    <p:sldId id="270" r:id="rId11"/>
    <p:sldId id="298" r:id="rId12"/>
    <p:sldId id="299" r:id="rId13"/>
    <p:sldId id="267" r:id="rId14"/>
    <p:sldId id="271" r:id="rId15"/>
    <p:sldId id="300" r:id="rId16"/>
    <p:sldId id="301" r:id="rId17"/>
    <p:sldId id="272" r:id="rId18"/>
    <p:sldId id="302" r:id="rId19"/>
    <p:sldId id="303" r:id="rId20"/>
    <p:sldId id="304" r:id="rId21"/>
    <p:sldId id="274" r:id="rId22"/>
    <p:sldId id="289" r:id="rId23"/>
    <p:sldId id="305" r:id="rId24"/>
    <p:sldId id="306" r:id="rId25"/>
    <p:sldId id="307" r:id="rId26"/>
    <p:sldId id="257" r:id="rId27"/>
    <p:sldId id="310" r:id="rId28"/>
    <p:sldId id="311" r:id="rId29"/>
    <p:sldId id="277" r:id="rId30"/>
    <p:sldId id="278" r:id="rId31"/>
    <p:sldId id="312" r:id="rId32"/>
    <p:sldId id="313" r:id="rId33"/>
    <p:sldId id="315" r:id="rId34"/>
    <p:sldId id="288" r:id="rId35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5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88" autoAdjust="0"/>
    <p:restoredTop sz="94660"/>
  </p:normalViewPr>
  <p:slideViewPr>
    <p:cSldViewPr>
      <p:cViewPr varScale="1">
        <p:scale>
          <a:sx n="103" d="100"/>
          <a:sy n="103" d="100"/>
        </p:scale>
        <p:origin x="206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3B537-2AF7-442B-851A-C3E234E3E9FF}" type="datetimeFigureOut">
              <a:rPr lang="en-US" smtClean="0"/>
              <a:pPr/>
              <a:t>7/9/2025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ED0DC-B954-4703-A39F-C60B99E70A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7623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E4304-5EF4-4C9C-9EB4-9A353662DFDD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5" y="3271838"/>
            <a:ext cx="7899400" cy="2676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2783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763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CF99A-A0EF-4C13-9B31-236F02E8D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88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0CF99A-A0EF-4C13-9B31-236F02E8D8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8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0CF99A-A0EF-4C13-9B31-236F02E8D8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45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0CF99A-A0EF-4C13-9B31-236F02E8D81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63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75D1-7AC0-4E04-8B0E-7681F9D66EF1}" type="datetime1">
              <a:rPr lang="en-US" smtClean="0"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106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221EEC79-2CAB-4E66-BA11-005FDEDC2AAB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0082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1E28-3FED-41F8-8C66-FD43FAFA3B23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4454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EB71-D5C6-48B8-81CD-DA4AAF441CBB}" type="datetime1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08266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32E1A-7B99-4B53-9308-ECF55A3F8715}" type="datetime1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0611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29DD9DC0-3886-4DF5-BB2B-A8C4AC12BD20}" type="datetime1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12386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EE3A-F0D0-4607-970F-824648FBE9A7}" type="datetime1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1745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FB633B8F-D12F-4B56-BA6B-6930187DF110}" type="datetime1">
              <a:rPr lang="en-US" smtClean="0"/>
              <a:t>7/9/2025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7868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25DA32E-B117-4D13-BD12-0CC207DF7F8C}" type="datetime1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80317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C043FCE9-B5CF-404C-8B67-52524F87645F}" type="datetime1">
              <a:rPr lang="en-US" smtClean="0"/>
              <a:t>7/9/2025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95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C58D304F-633F-4DF8-82A0-1AB383235071}" type="datetime1">
              <a:rPr lang="en-US" smtClean="0"/>
              <a:t>7/9/2025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9902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FCBB0141-BC92-4829-93C1-FCD248FBADA5}" type="datetime1">
              <a:rPr lang="en-US" smtClean="0"/>
              <a:t>7/9/2025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4F7249E7-B9DF-4438-8CD5-CCFACF2EE448}" type="datetime1">
              <a:rPr lang="en-US" smtClean="0"/>
              <a:t>7/9/2025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2606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62528462-E41A-407F-A57A-039A07F11FE9}" type="datetime1">
              <a:rPr lang="en-US" smtClean="0"/>
              <a:t>7/9/2025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398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4C93-78FC-488F-B1C4-BDAC1AEBC6DB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32907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F4C9A-07A3-4109-A014-DE52FF6D860E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04892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eaLnBrk="1" latinLnBrk="0" hangingPunct="1"/>
            <a:fld id="{C6F8ACDE-DDF6-4C65-B635-24B16DF62FB0}" type="datetime1">
              <a:rPr lang="en-US" smtClean="0"/>
              <a:t>7/9/2025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31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3" Type="http://schemas.openxmlformats.org/officeDocument/2006/relationships/image" Target="../media/image3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7.emf"/><Relationship Id="rId7" Type="http://schemas.openxmlformats.org/officeDocument/2006/relationships/image" Target="../media/image3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34.png"/><Relationship Id="rId10" Type="http://schemas.openxmlformats.org/officeDocument/2006/relationships/image" Target="../media/image31.emf"/><Relationship Id="rId4" Type="http://schemas.openxmlformats.org/officeDocument/2006/relationships/image" Target="../media/image28.emf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30.emf"/><Relationship Id="rId3" Type="http://schemas.microsoft.com/office/2007/relationships/hdphoto" Target="../media/hdphoto1.wdp"/><Relationship Id="rId7" Type="http://schemas.openxmlformats.org/officeDocument/2006/relationships/image" Target="../media/image35.emf"/><Relationship Id="rId12" Type="http://schemas.openxmlformats.org/officeDocument/2006/relationships/image" Target="../media/image40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39.png"/><Relationship Id="rId4" Type="http://schemas.openxmlformats.org/officeDocument/2006/relationships/image" Target="../media/image33.emf"/><Relationship Id="rId9" Type="http://schemas.openxmlformats.org/officeDocument/2006/relationships/image" Target="../media/image36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1.png"/><Relationship Id="rId4" Type="http://schemas.openxmlformats.org/officeDocument/2006/relationships/image" Target="../media/image50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5.emf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image" Target="../media/image58.png"/><Relationship Id="rId7" Type="http://schemas.openxmlformats.org/officeDocument/2006/relationships/image" Target="../media/image61.emf"/><Relationship Id="rId12" Type="http://schemas.openxmlformats.org/officeDocument/2006/relationships/image" Target="../media/image66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11" Type="http://schemas.openxmlformats.org/officeDocument/2006/relationships/image" Target="../media/image65.emf"/><Relationship Id="rId5" Type="http://schemas.openxmlformats.org/officeDocument/2006/relationships/image" Target="../media/image59.emf"/><Relationship Id="rId10" Type="http://schemas.openxmlformats.org/officeDocument/2006/relationships/image" Target="../media/image64.emf"/><Relationship Id="rId4" Type="http://schemas.openxmlformats.org/officeDocument/2006/relationships/image" Target="../media/image72.png"/><Relationship Id="rId9" Type="http://schemas.openxmlformats.org/officeDocument/2006/relationships/image" Target="../media/image63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0.png"/><Relationship Id="rId7" Type="http://schemas.openxmlformats.org/officeDocument/2006/relationships/image" Target="../media/image7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3" Type="http://schemas.openxmlformats.org/officeDocument/2006/relationships/image" Target="../media/image79.emf"/><Relationship Id="rId7" Type="http://schemas.openxmlformats.org/officeDocument/2006/relationships/image" Target="../media/image83.emf"/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emf"/><Relationship Id="rId5" Type="http://schemas.openxmlformats.org/officeDocument/2006/relationships/image" Target="../media/image81.emf"/><Relationship Id="rId10" Type="http://schemas.openxmlformats.org/officeDocument/2006/relationships/image" Target="../media/image85.png"/><Relationship Id="rId4" Type="http://schemas.openxmlformats.org/officeDocument/2006/relationships/image" Target="../media/image80.emf"/><Relationship Id="rId9" Type="http://schemas.openxmlformats.org/officeDocument/2006/relationships/image" Target="../media/image8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image" Target="../media/image86.emf"/><Relationship Id="rId7" Type="http://schemas.openxmlformats.org/officeDocument/2006/relationships/image" Target="../media/image90.emf"/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emf"/><Relationship Id="rId5" Type="http://schemas.openxmlformats.org/officeDocument/2006/relationships/image" Target="../media/image88.emf"/><Relationship Id="rId10" Type="http://schemas.openxmlformats.org/officeDocument/2006/relationships/image" Target="../media/image94.png"/><Relationship Id="rId4" Type="http://schemas.openxmlformats.org/officeDocument/2006/relationships/image" Target="../media/image87.emf"/><Relationship Id="rId9" Type="http://schemas.openxmlformats.org/officeDocument/2006/relationships/image" Target="../media/image9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6.emf"/><Relationship Id="rId7" Type="http://schemas.openxmlformats.org/officeDocument/2006/relationships/image" Target="../media/image101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emf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7" Type="http://schemas.openxmlformats.org/officeDocument/2006/relationships/image" Target="../media/image106.emf"/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emf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emf"/><Relationship Id="rId3" Type="http://schemas.openxmlformats.org/officeDocument/2006/relationships/image" Target="../media/image108.emf"/><Relationship Id="rId7" Type="http://schemas.openxmlformats.org/officeDocument/2006/relationships/image" Target="../media/image112.emf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emf"/><Relationship Id="rId4" Type="http://schemas.openxmlformats.org/officeDocument/2006/relationships/image" Target="../media/image109.png"/><Relationship Id="rId9" Type="http://schemas.openxmlformats.org/officeDocument/2006/relationships/image" Target="../media/image11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43108" y="500042"/>
            <a:ext cx="6172200" cy="1894362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MAT 350</a:t>
            </a:r>
            <a:b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Differential Equations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86000" y="5334000"/>
            <a:ext cx="6172200" cy="109267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Dr. M.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Sahadet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Hossain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Mth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)</a:t>
            </a:r>
          </a:p>
          <a:p>
            <a:pPr lvl="0">
              <a:buClr>
                <a:schemeClr val="accent1"/>
              </a:buClr>
              <a:buSzPct val="70000"/>
              <a:defRPr/>
            </a:pPr>
            <a:r>
              <a:rPr lang="en-US" dirty="0">
                <a:solidFill>
                  <a:srgbClr val="0070C0"/>
                </a:solidFill>
                <a:latin typeface="Berlin Sans FB" pitchFamily="34" charset="0"/>
              </a:rPr>
              <a:t>Professor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Berlin Sans FB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Department of Mathematics and Physics, NSU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7744" y="2780928"/>
            <a:ext cx="52864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Laplace Transformation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Inverse Laplace Transformation</a:t>
            </a:r>
            <a:endParaRPr lang="en-AU" sz="2400" b="1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43174" y="4286256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Lecture: 9, Part-A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63688" y="692696"/>
            <a:ext cx="70567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REFERENCE:</a:t>
            </a:r>
          </a:p>
          <a:p>
            <a:r>
              <a:rPr lang="en-US" dirty="0"/>
              <a:t>Chapter- 7-  </a:t>
            </a:r>
            <a:r>
              <a:rPr lang="en-US" b="1" dirty="0"/>
              <a:t>The Laplace Transform </a:t>
            </a:r>
          </a:p>
          <a:p>
            <a:r>
              <a:rPr lang="en-US" dirty="0"/>
              <a:t>Book- </a:t>
            </a:r>
            <a:r>
              <a:rPr lang="en-AU" sz="1200" dirty="0"/>
              <a:t>A First Course in Differential Equations with </a:t>
            </a:r>
            <a:r>
              <a:rPr lang="en-AU" sz="1200" dirty="0" err="1"/>
              <a:t>Modeling</a:t>
            </a:r>
            <a:r>
              <a:rPr lang="en-AU" sz="1200" dirty="0"/>
              <a:t> and Applications, </a:t>
            </a:r>
            <a:r>
              <a:rPr lang="en-US" sz="1200" dirty="0"/>
              <a:t>(10th Edition), </a:t>
            </a:r>
            <a:r>
              <a:rPr lang="en-AU" sz="1200" dirty="0"/>
              <a:t> Author-Dennis G. </a:t>
            </a:r>
            <a:r>
              <a:rPr lang="en-AU" sz="1200" dirty="0" err="1"/>
              <a:t>Zill</a:t>
            </a:r>
            <a:r>
              <a:rPr lang="en-US" sz="1200" dirty="0"/>
              <a:t>.</a:t>
            </a:r>
          </a:p>
          <a:p>
            <a:r>
              <a:rPr lang="en-US" dirty="0"/>
              <a:t>Associated Sections:  7.1, 7.2 and 7.3</a:t>
            </a:r>
          </a:p>
        </p:txBody>
      </p:sp>
      <p:sp>
        <p:nvSpPr>
          <p:cNvPr id="5" name="Rectangle 4"/>
          <p:cNvSpPr/>
          <p:nvPr/>
        </p:nvSpPr>
        <p:spPr>
          <a:xfrm>
            <a:off x="1763688" y="2708920"/>
            <a:ext cx="64087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StoneSans-Semibold"/>
              </a:rPr>
              <a:t>REVIEW MATERIAL </a:t>
            </a:r>
            <a:r>
              <a:rPr lang="en-US" dirty="0">
                <a:solidFill>
                  <a:srgbClr val="540000"/>
                </a:solidFill>
                <a:latin typeface="StoneSans-Semibold"/>
              </a:rPr>
              <a:t>(What I expect you already know/learnt from MAT 130) </a:t>
            </a:r>
          </a:p>
          <a:p>
            <a:pPr lvl="1"/>
            <a:r>
              <a:rPr lang="en-US" sz="800" dirty="0">
                <a:solidFill>
                  <a:srgbClr val="540000"/>
                </a:solidFill>
                <a:latin typeface="ZapfDingbats"/>
              </a:rPr>
              <a:t>● </a:t>
            </a:r>
            <a:r>
              <a:rPr lang="en-US" dirty="0">
                <a:solidFill>
                  <a:srgbClr val="000000"/>
                </a:solidFill>
                <a:latin typeface="TimesNewRoman"/>
              </a:rPr>
              <a:t>Improper integrals with infinite limits of integration</a:t>
            </a:r>
          </a:p>
          <a:p>
            <a:pPr lvl="1"/>
            <a:r>
              <a:rPr lang="en-US" sz="800" dirty="0">
                <a:solidFill>
                  <a:srgbClr val="540000"/>
                </a:solidFill>
                <a:latin typeface="ZapfDingbats"/>
              </a:rPr>
              <a:t>● </a:t>
            </a:r>
            <a:r>
              <a:rPr lang="en-US" dirty="0">
                <a:solidFill>
                  <a:srgbClr val="000000"/>
                </a:solidFill>
                <a:latin typeface="TimesNewRoman"/>
              </a:rPr>
              <a:t>Integration by parts and partial fraction decomposition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2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44490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In mathematics, the Laplace transform is an integral transform named after its inventor Pierre-Simon Laplace (French scholar and mathematician). It transforms a function of a real variable t (often time) to a function of a complex variables (complex frequency). The transform has many applications in science and engineering.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Source- Wikipedia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3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16499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3728" y="1268760"/>
            <a:ext cx="6591985" cy="244827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The Laplace Transform is a linear operator that transforms a  real  function f(x) to a complex function F(</a:t>
            </a:r>
            <a:r>
              <a:rPr lang="el-GR" dirty="0">
                <a:solidFill>
                  <a:schemeClr val="tx1"/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ω</a:t>
            </a:r>
            <a:r>
              <a:rPr lang="en-US" dirty="0">
                <a:solidFill>
                  <a:schemeClr val="tx1"/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). Note that x is a real variable, whereas </a:t>
            </a:r>
            <a:r>
              <a:rPr lang="el-GR" dirty="0">
                <a:solidFill>
                  <a:schemeClr val="tx1"/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ω</a:t>
            </a:r>
            <a:r>
              <a:rPr lang="en-US" dirty="0">
                <a:solidFill>
                  <a:schemeClr val="tx1"/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=</a:t>
            </a:r>
            <a:r>
              <a:rPr lang="el-GR" dirty="0">
                <a:solidFill>
                  <a:schemeClr val="tx1"/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α</a:t>
            </a:r>
            <a:r>
              <a:rPr lang="en-US" dirty="0">
                <a:solidFill>
                  <a:schemeClr val="tx1"/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+</a:t>
            </a:r>
            <a:r>
              <a:rPr lang="en-US" dirty="0" err="1">
                <a:solidFill>
                  <a:schemeClr val="tx1"/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i</a:t>
            </a:r>
            <a:r>
              <a:rPr lang="el-GR" dirty="0">
                <a:solidFill>
                  <a:schemeClr val="tx1"/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β</a:t>
            </a:r>
            <a:r>
              <a:rPr lang="en-US" dirty="0">
                <a:solidFill>
                  <a:schemeClr val="tx1"/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 is a complex variable.</a:t>
            </a:r>
          </a:p>
          <a:p>
            <a:r>
              <a:rPr lang="en-US" b="1" dirty="0"/>
              <a:t>In engineering, </a:t>
            </a:r>
            <a:r>
              <a:rPr lang="en-US" dirty="0">
                <a:solidFill>
                  <a:schemeClr val="tx1"/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Laplace Transformation transforms a  time function f(t) to a frequency function F(s). Note that t is a real and s is complex.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47664" y="3933056"/>
            <a:ext cx="65527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a)Find solution to differential equation using algebraic relation.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b) A particular solution can be obtained without finding the general solution.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c) Analysis of various engineering and business model problems are very handy and effective. </a:t>
            </a:r>
          </a:p>
          <a:p>
            <a:r>
              <a:rPr lang="en-US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5696" y="346509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 Chapter 7.1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 Definition of Laplace Transformation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4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87578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-14000" contrast="21000"/>
          </a:blip>
          <a:srcRect/>
          <a:stretch>
            <a:fillRect/>
          </a:stretch>
        </p:blipFill>
        <p:spPr bwMode="auto">
          <a:xfrm>
            <a:off x="1259633" y="1480524"/>
            <a:ext cx="7704856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1475656" y="836712"/>
            <a:ext cx="4649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Laplace Transform</a:t>
            </a:r>
            <a:r>
              <a:rPr lang="en-US" sz="2000" dirty="0">
                <a:solidFill>
                  <a:srgbClr val="FF0000"/>
                </a:solidFill>
              </a:rPr>
              <a:t>: Definition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z="1600" smtClean="0">
                <a:solidFill>
                  <a:schemeClr val="bg1"/>
                </a:solidFill>
              </a:rPr>
              <a:pPr algn="ctr" eaLnBrk="1" latinLnBrk="0" hangingPunct="1"/>
              <a:t>5</a:t>
            </a:fld>
            <a:endParaRPr kumimoji="0" lang="en-US" sz="1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51720" y="3717032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</a:t>
            </a:r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lum bright="-18000" contrast="25000"/>
          </a:blip>
          <a:srcRect/>
          <a:stretch>
            <a:fillRect/>
          </a:stretch>
        </p:blipFill>
        <p:spPr bwMode="auto">
          <a:xfrm>
            <a:off x="3635896" y="3736055"/>
            <a:ext cx="2160240" cy="436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urved Down Arrow 6"/>
          <p:cNvSpPr/>
          <p:nvPr/>
        </p:nvSpPr>
        <p:spPr>
          <a:xfrm>
            <a:off x="4211960" y="3524427"/>
            <a:ext cx="1152128" cy="19260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20026" y="4382385"/>
            <a:ext cx="5688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is real, s is complex. Hence, f(t) is a real function whereas</a:t>
            </a:r>
          </a:p>
          <a:p>
            <a:r>
              <a:rPr lang="en-US" dirty="0"/>
              <a:t>F(s) is a complex function. </a:t>
            </a:r>
          </a:p>
        </p:txBody>
      </p:sp>
    </p:spTree>
    <p:extLst>
      <p:ext uri="{BB962C8B-B14F-4D97-AF65-F5344CB8AC3E}">
        <p14:creationId xmlns:p14="http://schemas.microsoft.com/office/powerpoint/2010/main" val="3222624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475656" y="548680"/>
                <a:ext cx="26971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Evaluate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{1}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 here </a:t>
                </a: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f(t)=1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548680"/>
                <a:ext cx="2697149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3160" t="-28889" r="-3386" b="-5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173650" y="1340768"/>
                <a:ext cx="2571473" cy="445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sup>
                        </m:s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650" y="1340768"/>
                <a:ext cx="2571473" cy="445058"/>
              </a:xfrm>
              <a:prstGeom prst="rect">
                <a:avLst/>
              </a:prstGeom>
              <a:blipFill rotWithShape="0">
                <a:blip r:embed="rId3"/>
                <a:stretch>
                  <a:fillRect t="-115068" b="-179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495405" y="1855857"/>
                <a:ext cx="2786597" cy="445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𝐻𝑒𝑛𝑐𝑒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{1}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sup>
                        </m:s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1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405" y="1855857"/>
                <a:ext cx="2786597" cy="445058"/>
              </a:xfrm>
              <a:prstGeom prst="rect">
                <a:avLst/>
              </a:prstGeom>
              <a:blipFill rotWithShape="0">
                <a:blip r:embed="rId4"/>
                <a:stretch>
                  <a:fillRect t="-115068" b="-179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750108" y="2479886"/>
                <a:ext cx="1352358" cy="445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108" y="2479886"/>
                <a:ext cx="1352358" cy="445058"/>
              </a:xfrm>
              <a:prstGeom prst="rect">
                <a:avLst/>
              </a:prstGeom>
              <a:blipFill rotWithShape="0">
                <a:blip r:embed="rId5"/>
                <a:stretch>
                  <a:fillRect l="-19820" t="-115068" b="-179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783207" y="2983044"/>
                <a:ext cx="2122697" cy="4742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nary>
                          <m:naryPr>
                            <m:limLoc m:val="undOvr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𝑠𝑡</m:t>
                                </m:r>
                              </m:sup>
                            </m:s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207" y="2983044"/>
                <a:ext cx="2122697" cy="474297"/>
              </a:xfrm>
              <a:prstGeom prst="rect">
                <a:avLst/>
              </a:prstGeom>
              <a:blipFill rotWithShape="0">
                <a:blip r:embed="rId6"/>
                <a:stretch>
                  <a:fillRect l="-2586" t="-102564" b="-1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783207" y="3546624"/>
                <a:ext cx="1538626" cy="569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lim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box>
                          <m:box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sSubSup>
                              <m:sSub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𝑠𝑡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brk m:alnAt="6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bSup>
                          </m:e>
                        </m:box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207" y="3546624"/>
                <a:ext cx="1538626" cy="569836"/>
              </a:xfrm>
              <a:prstGeom prst="rect">
                <a:avLst/>
              </a:prstGeom>
              <a:blipFill rotWithShape="0">
                <a:blip r:embed="rId7"/>
                <a:stretch>
                  <a:fillRect l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520325" y="2960995"/>
                <a:ext cx="2276264" cy="523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 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lim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box>
                          <m:box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𝑠𝑏</m:t>
                                    </m:r>
                                  </m:sup>
                                </m:s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box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325" y="2960995"/>
                <a:ext cx="2276264" cy="523798"/>
              </a:xfrm>
              <a:prstGeom prst="rect">
                <a:avLst/>
              </a:prstGeom>
              <a:blipFill rotWithShape="0">
                <a:blip r:embed="rId9"/>
                <a:stretch>
                  <a:fillRect l="-2413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750108" y="4089416"/>
                <a:ext cx="2683876" cy="523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 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lim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𝑠𝑏</m:t>
                                </m:r>
                              </m:sup>
                            </m:s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e>
                        </m:d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108" y="4089416"/>
                <a:ext cx="2683876" cy="523798"/>
              </a:xfrm>
              <a:prstGeom prst="rect">
                <a:avLst/>
              </a:prstGeom>
              <a:blipFill rotWithShape="0">
                <a:blip r:embed="rId10"/>
                <a:stretch>
                  <a:fillRect l="-1818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379949" y="3740698"/>
                <a:ext cx="2271381" cy="5237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 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box>
                          <m:box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box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949" y="3740698"/>
                <a:ext cx="2271381" cy="523798"/>
              </a:xfrm>
              <a:prstGeom prst="rect">
                <a:avLst/>
              </a:prstGeom>
              <a:blipFill rotWithShape="0">
                <a:blip r:embed="rId11"/>
                <a:stretch>
                  <a:fillRect l="-2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6574224" y="4278800"/>
            <a:ext cx="2290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Provided that s&gt;0, otherwise the integral is divergent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379949" y="4776307"/>
                <a:ext cx="2005549" cy="5068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 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box>
                          <m:box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box>
                      </m:fName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&gt;0 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949" y="4776307"/>
                <a:ext cx="2005549" cy="506870"/>
              </a:xfrm>
              <a:prstGeom prst="rect">
                <a:avLst/>
              </a:prstGeom>
              <a:blipFill rotWithShape="0">
                <a:blip r:embed="rId12"/>
                <a:stretch>
                  <a:fillRect l="-2736" b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5964275" y="3014089"/>
                <a:ext cx="7001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275" y="3014089"/>
                <a:ext cx="700128" cy="369332"/>
              </a:xfrm>
              <a:prstGeom prst="rect">
                <a:avLst/>
              </a:prstGeom>
              <a:blipFill rotWithShape="0">
                <a:blip r:embed="rId13"/>
                <a:stretch>
                  <a:fillRect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urved Connector 28"/>
          <p:cNvCxnSpPr>
            <a:endCxn id="20" idx="2"/>
          </p:cNvCxnSpPr>
          <p:nvPr/>
        </p:nvCxnSpPr>
        <p:spPr>
          <a:xfrm flipV="1">
            <a:off x="4905906" y="3383421"/>
            <a:ext cx="1408433" cy="1229793"/>
          </a:xfrm>
          <a:prstGeom prst="curvedConnector2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6473978" y="5464553"/>
                <a:ext cx="1049326" cy="4849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1400" dirty="0"/>
                  <a:t>0</a:t>
                </a: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978" y="5464553"/>
                <a:ext cx="1049326" cy="484941"/>
              </a:xfrm>
              <a:prstGeom prst="rect">
                <a:avLst/>
              </a:prstGeom>
              <a:blipFill rotWithShape="0">
                <a:blip r:embed="rId14"/>
                <a:stretch>
                  <a:fillRect l="-4651" r="-581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5908808" y="5496823"/>
                <a:ext cx="751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808" y="5496823"/>
                <a:ext cx="751424" cy="369332"/>
              </a:xfrm>
              <a:prstGeom prst="rect">
                <a:avLst/>
              </a:prstGeom>
              <a:blipFill rotWithShape="0">
                <a:blip r:embed="rId1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6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74215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475656" y="548680"/>
                <a:ext cx="33158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Evaluate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𝐻𝑒𝑟𝑒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548680"/>
                <a:ext cx="3315844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1103" r="-735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173650" y="1340768"/>
                <a:ext cx="2622769" cy="445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sup>
                        </m:s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650" y="1340768"/>
                <a:ext cx="2622769" cy="445058"/>
              </a:xfrm>
              <a:prstGeom prst="rect">
                <a:avLst/>
              </a:prstGeom>
              <a:blipFill rotWithShape="0">
                <a:blip r:embed="rId3"/>
                <a:stretch>
                  <a:fillRect t="-115068" b="-179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495405" y="1855857"/>
                <a:ext cx="2786597" cy="445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𝐻𝑒𝑛𝑐𝑒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sup>
                        </m:s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405" y="1855857"/>
                <a:ext cx="2786597" cy="445058"/>
              </a:xfrm>
              <a:prstGeom prst="rect">
                <a:avLst/>
              </a:prstGeom>
              <a:blipFill rotWithShape="0">
                <a:blip r:embed="rId4"/>
                <a:stretch>
                  <a:fillRect t="-115068" b="-179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750108" y="2479886"/>
                <a:ext cx="1500667" cy="445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108" y="2479886"/>
                <a:ext cx="1500667" cy="445058"/>
              </a:xfrm>
              <a:prstGeom prst="rect">
                <a:avLst/>
              </a:prstGeom>
              <a:blipFill rotWithShape="0">
                <a:blip r:embed="rId5"/>
                <a:stretch>
                  <a:fillRect l="-17886" t="-115068" b="-179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783207" y="2983044"/>
                <a:ext cx="2214068" cy="4742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nary>
                          <m:naryPr>
                            <m:limLoc m:val="undOvr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𝑠𝑡</m:t>
                                </m:r>
                              </m:sup>
                            </m:s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207" y="2983044"/>
                <a:ext cx="2214068" cy="474297"/>
              </a:xfrm>
              <a:prstGeom prst="rect">
                <a:avLst/>
              </a:prstGeom>
              <a:blipFill rotWithShape="0">
                <a:blip r:embed="rId6"/>
                <a:stretch>
                  <a:fillRect l="-2479" t="-102564" b="-1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716461" y="4188221"/>
                <a:ext cx="3931204" cy="569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lim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box>
                          <m:box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sSubSup>
                              <m:sSub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𝑠𝑡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brk m:alnAt="6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bSup>
                          </m:e>
                        </m:box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lim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nary>
                          <m:naryPr>
                            <m:limLoc m:val="undOvr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/>
                                  </m:r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.  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𝑠𝑡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461" y="4188221"/>
                <a:ext cx="3931204" cy="569836"/>
              </a:xfrm>
              <a:prstGeom prst="rect">
                <a:avLst/>
              </a:prstGeom>
              <a:blipFill rotWithShape="0">
                <a:blip r:embed="rId7"/>
                <a:stretch>
                  <a:fillRect l="-1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716461" y="5685963"/>
                <a:ext cx="2358594" cy="5068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 </m:t>
                        </m:r>
                      </m:fName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461" y="5685963"/>
                <a:ext cx="2358594" cy="506870"/>
              </a:xfrm>
              <a:prstGeom prst="rect">
                <a:avLst/>
              </a:prstGeom>
              <a:blipFill rotWithShape="0">
                <a:blip r:embed="rId8"/>
                <a:stretch>
                  <a:fillRect l="-2326" b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685266" y="4982081"/>
                <a:ext cx="4904932" cy="523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 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lim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𝑠𝑏</m:t>
                                </m:r>
                              </m:sup>
                            </m:s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e>
                        </m:d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limLow>
                              <m:limLow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nary>
                              <m:naryPr>
                                <m:limLoc m:val="undOvr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4"/>
                                  </m:r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𝑠𝑡</m:t>
                                    </m:r>
                                  </m:sup>
                                </m:s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nary>
                          </m:e>
                        </m:func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266" y="4982081"/>
                <a:ext cx="4904932" cy="523798"/>
              </a:xfrm>
              <a:prstGeom prst="rect">
                <a:avLst/>
              </a:prstGeom>
              <a:blipFill rotWithShape="0">
                <a:blip r:embed="rId9"/>
                <a:stretch>
                  <a:fillRect l="-994" t="-91860" b="-143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5940152" y="5575419"/>
            <a:ext cx="2290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Provided that s&gt;0, otherwise the integral is divergent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685266" y="3642075"/>
                <a:ext cx="4615046" cy="5226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fName>
                      <m:e>
                        <m:nary>
                          <m:naryPr>
                            <m:limLoc m:val="undOvr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𝑠𝑡</m:t>
                                </m:r>
                              </m:sup>
                            </m:s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nary>
                              <m:naryPr>
                                <m:limLoc m:val="undOvr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4"/>
                                  </m:r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𝑑𝑡</m:t>
                                        </m:r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nary>
                                      <m:naryPr>
                                        <m:limLoc m:val="undOvr"/>
                                        <m:subHide m:val="on"/>
                                        <m:sup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sSup>
                                          <m:sSup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𝑠𝑡</m:t>
                                            </m:r>
                                          </m:sup>
                                        </m:sSup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𝑑𝑡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nary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nary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266" y="3642075"/>
                <a:ext cx="4615046" cy="522644"/>
              </a:xfrm>
              <a:prstGeom prst="rect">
                <a:avLst/>
              </a:prstGeom>
              <a:blipFill rotWithShape="0">
                <a:blip r:embed="rId10"/>
                <a:stretch>
                  <a:fillRect l="-1055" t="-91860" b="-143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750108" y="6165304"/>
                <a:ext cx="1197828" cy="4849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,  </a:t>
                </a:r>
                <a:r>
                  <a:rPr lang="en-US" sz="1400" dirty="0"/>
                  <a:t>s &gt; 0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108" y="6165304"/>
                <a:ext cx="1197828" cy="484941"/>
              </a:xfrm>
              <a:prstGeom prst="rect">
                <a:avLst/>
              </a:prstGeom>
              <a:blipFill rotWithShape="0">
                <a:blip r:embed="rId11"/>
                <a:stretch>
                  <a:fillRect l="-4061" r="-3553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7</a:t>
            </a:fld>
            <a:endParaRPr kumimoji="0" lang="en-US"/>
          </a:p>
        </p:txBody>
      </p:sp>
      <p:sp>
        <p:nvSpPr>
          <p:cNvPr id="4" name="TextBox 3"/>
          <p:cNvSpPr txBox="1"/>
          <p:nvPr/>
        </p:nvSpPr>
        <p:spPr>
          <a:xfrm>
            <a:off x="5796136" y="2636912"/>
            <a:ext cx="150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LIATE</a:t>
            </a:r>
          </a:p>
        </p:txBody>
      </p:sp>
    </p:spTree>
    <p:extLst>
      <p:ext uri="{BB962C8B-B14F-4D97-AF65-F5344CB8AC3E}">
        <p14:creationId xmlns:p14="http://schemas.microsoft.com/office/powerpoint/2010/main" val="491966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979712" y="548680"/>
                <a:ext cx="6840760" cy="12003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NewRoman"/>
                  </a:rPr>
                  <a:t>The use of the limit sign becomes somewhat tedious,                          so we shall adopt the notation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endParaRPr lang="en-US" sz="800" dirty="0">
                  <a:latin typeface="TimesNewRoman"/>
                </a:endParaRPr>
              </a:p>
              <a:p>
                <a:endParaRPr lang="en-US" sz="800" dirty="0">
                  <a:latin typeface="MathematicalPi-One"/>
                </a:endParaRPr>
              </a:p>
              <a:p>
                <a:r>
                  <a:rPr lang="en-US" sz="800" dirty="0">
                    <a:latin typeface="TimesNewRoman"/>
                  </a:rPr>
                  <a:t> </a:t>
                </a:r>
                <a:r>
                  <a:rPr lang="en-US" dirty="0">
                    <a:latin typeface="TimesNewRoman"/>
                  </a:rPr>
                  <a:t>as a shorthand for writing 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  </m:t>
                        </m:r>
                        <m:sSubSup>
                          <m:sSub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[∗]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b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li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548680"/>
                <a:ext cx="6840760" cy="1200393"/>
              </a:xfrm>
              <a:prstGeom prst="rect">
                <a:avLst/>
              </a:prstGeom>
              <a:blipFill rotWithShape="0">
                <a:blip r:embed="rId2"/>
                <a:stretch>
                  <a:fillRect l="-802" t="-13706" r="-6150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123728" y="2348880"/>
                <a:ext cx="4432047" cy="602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    </m:t>
                        </m:r>
                      </m:e>
                      <m:li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𝑡𝑒</m:t>
                                        </m:r>
                                      </m:e>
                                      <m:sup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𝑠𝑡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brk m:alnAt="6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bSup>
                      </m:e>
                    </m:box>
                  </m:oMath>
                </a14:m>
                <a:r>
                  <a:rPr lang="en-US" dirty="0"/>
                  <a:t> will be denoted by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𝑡𝑒</m:t>
                                    </m:r>
                                  </m:e>
                                  <m: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𝑠𝑡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2348880"/>
                <a:ext cx="4432047" cy="602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123728" y="2006699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 example,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8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4821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23528" y="1412776"/>
            <a:ext cx="8410654" cy="4320480"/>
            <a:chOff x="733346" y="1412776"/>
            <a:chExt cx="8410654" cy="4320480"/>
          </a:xfrm>
        </p:grpSpPr>
        <p:grpSp>
          <p:nvGrpSpPr>
            <p:cNvPr id="2" name="Group 1"/>
            <p:cNvGrpSpPr/>
            <p:nvPr/>
          </p:nvGrpSpPr>
          <p:grpSpPr>
            <a:xfrm>
              <a:off x="1092363" y="1412776"/>
              <a:ext cx="8051637" cy="4320480"/>
              <a:chOff x="683568" y="1340768"/>
              <a:chExt cx="8051637" cy="4320480"/>
            </a:xfrm>
          </p:grpSpPr>
          <p:pic>
            <p:nvPicPr>
              <p:cNvPr id="3074" name="Picture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683568" y="1340768"/>
                <a:ext cx="8051637" cy="43204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6" name="TextBox 5"/>
              <p:cNvSpPr txBox="1"/>
              <p:nvPr/>
            </p:nvSpPr>
            <p:spPr>
              <a:xfrm>
                <a:off x="3923928" y="1979548"/>
                <a:ext cx="3929090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AU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733346" y="4123835"/>
                  <a:ext cx="3011077" cy="5986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+3)</m:t>
                            </m:r>
                          </m:den>
                        </m:f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e>
                                </m:d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</m:s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346" y="4123835"/>
                  <a:ext cx="3011077" cy="59862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3347864" y="4104073"/>
                  <a:ext cx="2232248" cy="6619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+3)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0−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7864" y="4104073"/>
                  <a:ext cx="2232248" cy="66191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9</a:t>
            </a:fld>
            <a:endParaRPr kumimoji="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611560" y="1196752"/>
            <a:ext cx="8108782" cy="3432634"/>
            <a:chOff x="611560" y="1484784"/>
            <a:chExt cx="8108782" cy="3144602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>
              <a:lum bright="-15000" contrast="29000"/>
            </a:blip>
            <a:stretch>
              <a:fillRect/>
            </a:stretch>
          </p:blipFill>
          <p:spPr>
            <a:xfrm>
              <a:off x="611560" y="1484784"/>
              <a:ext cx="8108782" cy="3096344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5292080" y="4005064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&gt;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940324" y="4260054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&gt;</a:t>
              </a: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10</a:t>
            </a:fld>
            <a:endParaRPr kumimoji="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5" y="548680"/>
            <a:ext cx="2175879" cy="576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576" y="1412776"/>
            <a:ext cx="741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Solution: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According to definition of Laplace Transformation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278" y="2087898"/>
            <a:ext cx="3223754" cy="7362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771800" y="2996952"/>
                <a:ext cx="5255606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fName>
                      <m:e>
                        <m:nary>
                          <m:naryPr>
                            <m:limLoc m:val="undOvr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𝑠𝑡</m:t>
                                </m:r>
                              </m:sup>
                            </m:s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nary>
                              <m:naryPr>
                                <m:limLoc m:val="undOvr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4"/>
                                  </m:r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𝑑𝑡</m:t>
                                        </m:r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sin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2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nary>
                                      <m:naryPr>
                                        <m:limLoc m:val="undOvr"/>
                                        <m:subHide m:val="on"/>
                                        <m:sup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sSup>
                                          <m:sSup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𝑠𝑡</m:t>
                                            </m:r>
                                          </m:sup>
                                        </m:sSup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𝑑𝑡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nary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nary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2996952"/>
                <a:ext cx="5255606" cy="504818"/>
              </a:xfrm>
              <a:prstGeom prst="rect">
                <a:avLst/>
              </a:prstGeom>
              <a:blipFill rotWithShape="0">
                <a:blip r:embed="rId5"/>
                <a:stretch>
                  <a:fillRect l="-1044" t="-96341" b="-15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6380" y="4511048"/>
            <a:ext cx="4227303" cy="758001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2813764" y="5871971"/>
            <a:ext cx="3625820" cy="708386"/>
            <a:chOff x="2746381" y="5373217"/>
            <a:chExt cx="3625820" cy="708386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46381" y="5373217"/>
              <a:ext cx="3625820" cy="708386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724128" y="557994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&gt;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786478" y="3852097"/>
                <a:ext cx="4023537" cy="5738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sSubSup>
                          <m:sSub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box>
                                  <m:box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𝑠𝑡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den>
                                    </m:f>
                                  </m:e>
                                </m:box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2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</m:sSubSup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limLoc m:val="undOvr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2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∙</m:t>
                                </m:r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𝑠𝑡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478" y="3852097"/>
                <a:ext cx="4023537" cy="573875"/>
              </a:xfrm>
              <a:prstGeom prst="rect">
                <a:avLst/>
              </a:prstGeom>
              <a:blipFill rotWithShape="0">
                <a:blip r:embed="rId8"/>
                <a:stretch>
                  <a:fillRect l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2860520" y="5191665"/>
            <a:ext cx="3296414" cy="708965"/>
            <a:chOff x="2860520" y="5191665"/>
            <a:chExt cx="3296414" cy="7089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860520" y="5417872"/>
                  <a:ext cx="2503568" cy="3052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box>
                        <m:box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box>
                    </m:oMath>
                  </a14:m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(0-0) +</a:t>
                  </a: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0520" y="5417872"/>
                  <a:ext cx="2503568" cy="305276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1946" t="-26000" b="-3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192737" y="5191665"/>
              <a:ext cx="1964197" cy="708965"/>
            </a:xfrm>
            <a:prstGeom prst="rect">
              <a:avLst/>
            </a:prstGeom>
          </p:spPr>
        </p:pic>
      </p:grpSp>
      <p:sp>
        <p:nvSpPr>
          <p:cNvPr id="16" name="Flowchart: Sequential Access Storage 15"/>
          <p:cNvSpPr/>
          <p:nvPr/>
        </p:nvSpPr>
        <p:spPr>
          <a:xfrm>
            <a:off x="6810015" y="5900629"/>
            <a:ext cx="1722425" cy="679727"/>
          </a:xfrm>
          <a:prstGeom prst="flowChartMagnetic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Cont. to next page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11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938641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331640" y="1340768"/>
            <a:ext cx="7247978" cy="1368152"/>
            <a:chOff x="1403648" y="1340768"/>
            <a:chExt cx="7247978" cy="136815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5000" contrast="24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63688" y="1340768"/>
              <a:ext cx="6887938" cy="1368152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3684154" y="1364518"/>
              <a:ext cx="144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&gt;</a:t>
              </a: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03648" y="1988840"/>
              <a:ext cx="1080120" cy="437878"/>
            </a:xfrm>
            <a:prstGeom prst="rect">
              <a:avLst/>
            </a:prstGeom>
          </p:spPr>
        </p:pic>
      </p:grpSp>
      <p:grpSp>
        <p:nvGrpSpPr>
          <p:cNvPr id="10" name="Group 9"/>
          <p:cNvGrpSpPr/>
          <p:nvPr/>
        </p:nvGrpSpPr>
        <p:grpSpPr>
          <a:xfrm>
            <a:off x="2627784" y="2708920"/>
            <a:ext cx="3528392" cy="792088"/>
            <a:chOff x="2598247" y="2808453"/>
            <a:chExt cx="3388031" cy="6151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2598247" y="2919455"/>
                  <a:ext cx="3269897" cy="39318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8247" y="2919455"/>
                  <a:ext cx="3269897" cy="39318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4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72000" y="2808453"/>
              <a:ext cx="1414278" cy="615188"/>
            </a:xfrm>
            <a:prstGeom prst="rect">
              <a:avLst/>
            </a:prstGeom>
          </p:spPr>
        </p:pic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0232" y="2708920"/>
            <a:ext cx="906589" cy="370922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 flipH="1">
            <a:off x="5724128" y="2851841"/>
            <a:ext cx="936104" cy="17137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1595922" y="3785318"/>
            <a:ext cx="4032448" cy="512267"/>
            <a:chOff x="1691680" y="3789040"/>
            <a:chExt cx="4032448" cy="5122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691680" y="3789040"/>
                  <a:ext cx="4032448" cy="4843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Hence,  (1+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a14:m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 </a:t>
                  </a: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1680" y="3789040"/>
                  <a:ext cx="4032448" cy="484363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1362" b="-75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3290" y="3835525"/>
              <a:ext cx="1080120" cy="437878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9">
              <a:lum bright="-7000" contrast="18000"/>
            </a:blip>
            <a:stretch>
              <a:fillRect/>
            </a:stretch>
          </p:blipFill>
          <p:spPr>
            <a:xfrm>
              <a:off x="4375705" y="3839916"/>
              <a:ext cx="543953" cy="461391"/>
            </a:xfrm>
            <a:prstGeom prst="rect">
              <a:avLst/>
            </a:prstGeom>
          </p:spPr>
        </p:pic>
      </p:grpSp>
      <p:grpSp>
        <p:nvGrpSpPr>
          <p:cNvPr id="21" name="Group 20"/>
          <p:cNvGrpSpPr/>
          <p:nvPr/>
        </p:nvGrpSpPr>
        <p:grpSpPr>
          <a:xfrm>
            <a:off x="2823187" y="4400160"/>
            <a:ext cx="2200290" cy="488339"/>
            <a:chOff x="2823187" y="4400160"/>
            <a:chExt cx="2200290" cy="488339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823187" y="4569050"/>
              <a:ext cx="1181100" cy="29527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4004287" y="4400160"/>
                  <a:ext cx="1019190" cy="4883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</m:den>
                            </m:f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.  </m:t>
                        </m:r>
                        <m:box>
                          <m:box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box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4287" y="4400160"/>
                  <a:ext cx="1019190" cy="488339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2627784" y="5059970"/>
            <a:ext cx="2756030" cy="551859"/>
            <a:chOff x="2627784" y="5059970"/>
            <a:chExt cx="2756030" cy="551859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627784" y="5059970"/>
              <a:ext cx="2756030" cy="551859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4849960" y="5157192"/>
              <a:ext cx="298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&gt;</a:t>
              </a:r>
            </a:p>
          </p:txBody>
        </p:sp>
      </p:grp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12</a:t>
            </a:fld>
            <a:endParaRPr kumimoji="0"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2468668" y="418767"/>
            <a:ext cx="3975540" cy="836696"/>
            <a:chOff x="2746381" y="5373217"/>
            <a:chExt cx="3625820" cy="708386"/>
          </a:xfrm>
        </p:grpSpPr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746381" y="5373217"/>
              <a:ext cx="3625820" cy="708386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5724128" y="557994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816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4000" contrast="20000"/>
          </a:blip>
          <a:srcRect/>
          <a:stretch>
            <a:fillRect/>
          </a:stretch>
        </p:blipFill>
        <p:spPr bwMode="auto">
          <a:xfrm>
            <a:off x="971600" y="1268760"/>
            <a:ext cx="7356883" cy="3690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13</a:t>
            </a:fld>
            <a:endParaRPr kumimoji="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47664" y="613772"/>
            <a:ext cx="650085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DEFINITION : </a:t>
            </a:r>
            <a:r>
              <a:rPr lang="en-AU" b="1" dirty="0"/>
              <a:t>Exponential Order</a:t>
            </a:r>
          </a:p>
          <a:p>
            <a:endParaRPr lang="en-AU" b="1" dirty="0"/>
          </a:p>
          <a:p>
            <a:r>
              <a:rPr lang="en-AU" dirty="0"/>
              <a:t>A function </a:t>
            </a:r>
            <a:r>
              <a:rPr lang="en-AU" i="1" dirty="0"/>
              <a:t>f is said to be of </a:t>
            </a:r>
            <a:r>
              <a:rPr lang="en-AU" b="1" i="1" dirty="0">
                <a:solidFill>
                  <a:srgbClr val="FF0000"/>
                </a:solidFill>
              </a:rPr>
              <a:t>exponential order </a:t>
            </a:r>
            <a:r>
              <a:rPr lang="en-AU" i="1" dirty="0"/>
              <a:t>if there exist constants</a:t>
            </a:r>
            <a:r>
              <a:rPr lang="en-AU" b="1" i="1" dirty="0"/>
              <a:t> </a:t>
            </a:r>
            <a:r>
              <a:rPr lang="en-AU" i="1" dirty="0"/>
              <a:t>c, M&gt; 0, and T&gt; 0 such  </a:t>
            </a:r>
          </a:p>
          <a:p>
            <a:endParaRPr lang="en-AU" i="1" dirty="0"/>
          </a:p>
          <a:p>
            <a:endParaRPr lang="en-AU" i="1" dirty="0"/>
          </a:p>
          <a:p>
            <a:r>
              <a:rPr lang="en-AU" i="1" dirty="0"/>
              <a:t>for all t&gt; T.</a:t>
            </a:r>
            <a:endParaRPr lang="en-AU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>
            <a:lum bright="-11000" contrast="26000"/>
          </a:blip>
          <a:srcRect/>
          <a:stretch>
            <a:fillRect/>
          </a:stretch>
        </p:blipFill>
        <p:spPr bwMode="auto">
          <a:xfrm>
            <a:off x="2843808" y="2267343"/>
            <a:ext cx="16668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514222" y="4734595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Properties of Laplace Transform 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lum bright="-21000" contrast="9000"/>
          </a:blip>
          <a:stretch>
            <a:fillRect/>
          </a:stretch>
        </p:blipFill>
        <p:spPr>
          <a:xfrm>
            <a:off x="1577776" y="5648241"/>
            <a:ext cx="6485867" cy="5109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776" y="5242763"/>
            <a:ext cx="2284603" cy="289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lum bright="-11000" contrast="21000"/>
          </a:blip>
          <a:stretch>
            <a:fillRect/>
          </a:stretch>
        </p:blipFill>
        <p:spPr>
          <a:xfrm>
            <a:off x="1547664" y="3085507"/>
            <a:ext cx="5112568" cy="4099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0042" y="3641358"/>
            <a:ext cx="7132459" cy="6462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55776" y="3954986"/>
            <a:ext cx="108877" cy="54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14</a:t>
            </a:fld>
            <a:endParaRPr kumimoji="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79" y="620688"/>
            <a:ext cx="4515779" cy="7200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658610"/>
            <a:ext cx="2505878" cy="17281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1700808"/>
            <a:ext cx="1259510" cy="2880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664" y="3717032"/>
            <a:ext cx="6528725" cy="23042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8581" y="5480549"/>
            <a:ext cx="108877" cy="54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993241" y="2235109"/>
                <a:ext cx="4572000" cy="120032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>
                    <a:latin typeface="TimesNewRoman"/>
                  </a:rPr>
                  <a:t>The function </a:t>
                </a:r>
                <a:r>
                  <a:rPr lang="en-US" i="1" dirty="0">
                    <a:latin typeface="Times-Italic"/>
                  </a:rPr>
                  <a:t>f </a:t>
                </a:r>
                <a:r>
                  <a:rPr lang="en-US" dirty="0">
                    <a:latin typeface="TimesNewRoman"/>
                  </a:rPr>
                  <a:t>is piecewise continuous and of exponential order for </a:t>
                </a:r>
                <a:r>
                  <a:rPr lang="en-US" i="1" dirty="0">
                    <a:latin typeface="Times-Italic"/>
                  </a:rPr>
                  <a:t>t &gt; </a:t>
                </a:r>
                <a:r>
                  <a:rPr lang="en-US" dirty="0">
                    <a:latin typeface="TimesNewRoman"/>
                  </a:rPr>
                  <a:t>0. Since </a:t>
                </a:r>
                <a:r>
                  <a:rPr lang="en-US" i="1" dirty="0">
                    <a:latin typeface="Times-Italic"/>
                  </a:rPr>
                  <a:t>f </a:t>
                </a:r>
                <a:r>
                  <a:rPr lang="en-US" dirty="0">
                    <a:latin typeface="TimesNewRoman"/>
                  </a:rPr>
                  <a:t>is defined in two pieces,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dirty="0">
                    <a:latin typeface="TimesNewRoman"/>
                  </a:rPr>
                  <a:t>{</a:t>
                </a:r>
                <a:r>
                  <a:rPr lang="en-US" i="1" dirty="0">
                    <a:latin typeface="Times-Italic"/>
                  </a:rPr>
                  <a:t>f </a:t>
                </a:r>
                <a:r>
                  <a:rPr lang="en-US" dirty="0">
                    <a:latin typeface="TimesNewRoman"/>
                  </a:rPr>
                  <a:t>(</a:t>
                </a:r>
                <a:r>
                  <a:rPr lang="en-US" i="1" dirty="0">
                    <a:latin typeface="Times-Italic"/>
                  </a:rPr>
                  <a:t>t</a:t>
                </a:r>
                <a:r>
                  <a:rPr lang="en-US" dirty="0">
                    <a:latin typeface="TimesNewRoman"/>
                  </a:rPr>
                  <a:t>)} is expressed as the sum of two integrals</a:t>
                </a:r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241" y="2235109"/>
                <a:ext cx="4572000" cy="1200329"/>
              </a:xfrm>
              <a:prstGeom prst="rect">
                <a:avLst/>
              </a:prstGeom>
              <a:blipFill rotWithShape="0">
                <a:blip r:embed="rId6"/>
                <a:stretch>
                  <a:fillRect l="-1200" t="-3046" r="-400" b="-7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15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57429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7704" y="548680"/>
            <a:ext cx="57606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Chapter 7.2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Inverse Transforms and                Transforms of Derivatives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2804" y="2060848"/>
            <a:ext cx="52373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toneSans-Semibold"/>
              </a:rPr>
              <a:t>REVIEW MATERIAL</a:t>
            </a:r>
          </a:p>
          <a:p>
            <a:r>
              <a:rPr lang="en-US" sz="800" dirty="0">
                <a:solidFill>
                  <a:srgbClr val="540000"/>
                </a:solidFill>
                <a:latin typeface="ZapfDingbats"/>
              </a:rPr>
              <a:t>● </a:t>
            </a:r>
            <a:r>
              <a:rPr lang="en-US" dirty="0">
                <a:solidFill>
                  <a:srgbClr val="000000"/>
                </a:solidFill>
                <a:latin typeface="TimesNewRoman"/>
              </a:rPr>
              <a:t>Partial fraction decomposition</a:t>
            </a:r>
          </a:p>
          <a:p>
            <a:r>
              <a:rPr lang="en-US" sz="800" dirty="0">
                <a:solidFill>
                  <a:srgbClr val="540000"/>
                </a:solidFill>
                <a:latin typeface="ZapfDingbats"/>
              </a:rPr>
              <a:t>● </a:t>
            </a:r>
            <a:r>
              <a:rPr lang="en-US" dirty="0">
                <a:solidFill>
                  <a:srgbClr val="000000"/>
                </a:solidFill>
                <a:latin typeface="TimesNewRoman"/>
              </a:rPr>
              <a:t>See the 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Student Resource Manual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16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22872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8000" contrast="25000"/>
          </a:blip>
          <a:srcRect/>
          <a:stretch>
            <a:fillRect/>
          </a:stretch>
        </p:blipFill>
        <p:spPr bwMode="auto">
          <a:xfrm>
            <a:off x="2555776" y="1409525"/>
            <a:ext cx="1785950" cy="365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lum bright="-18000" contrast="25000"/>
          </a:blip>
          <a:srcRect/>
          <a:stretch>
            <a:fillRect/>
          </a:stretch>
        </p:blipFill>
        <p:spPr bwMode="auto">
          <a:xfrm>
            <a:off x="2555776" y="2368965"/>
            <a:ext cx="2000264" cy="368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57422" y="3429000"/>
            <a:ext cx="5094328" cy="3012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835696" y="552385"/>
            <a:ext cx="6572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Inverse Laplace Transforms</a:t>
            </a:r>
            <a:r>
              <a:rPr lang="en-AU" sz="2800" dirty="0"/>
              <a:t>:</a:t>
            </a:r>
          </a:p>
        </p:txBody>
      </p:sp>
      <p:sp>
        <p:nvSpPr>
          <p:cNvPr id="2" name="Curved Down Arrow 1"/>
          <p:cNvSpPr/>
          <p:nvPr/>
        </p:nvSpPr>
        <p:spPr>
          <a:xfrm>
            <a:off x="3131840" y="1196752"/>
            <a:ext cx="864096" cy="21277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 flipH="1" flipV="1">
            <a:off x="2850932" y="2793092"/>
            <a:ext cx="1000987" cy="27059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56040" y="1409525"/>
            <a:ext cx="304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Laplace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6016" y="2356416"/>
            <a:ext cx="369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Inverse Laplace Transformation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17</a:t>
            </a:fld>
            <a:endParaRPr kumimoji="0"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196752"/>
            <a:ext cx="7706827" cy="424847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18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93198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1" y="548680"/>
            <a:ext cx="2244957" cy="72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18013" y="141277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Solution: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52460" y="1916832"/>
                <a:ext cx="3024336" cy="489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We know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4!</m:t>
                        </m:r>
                      </m:num>
                      <m:den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460" y="1916832"/>
                <a:ext cx="3024336" cy="489814"/>
              </a:xfrm>
              <a:prstGeom prst="rect">
                <a:avLst/>
              </a:prstGeom>
              <a:blipFill rotWithShape="0">
                <a:blip r:embed="rId4"/>
                <a:stretch>
                  <a:fillRect l="-1815" b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46594" y="2547510"/>
                <a:ext cx="3541100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4!</m:t>
                        </m:r>
                      </m:num>
                      <m:den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594" y="2547510"/>
                <a:ext cx="3541100" cy="491288"/>
              </a:xfrm>
              <a:prstGeom prst="rect">
                <a:avLst/>
              </a:prstGeom>
              <a:blipFill rotWithShape="0">
                <a:blip r:embed="rId5"/>
                <a:stretch>
                  <a:fillRect l="-1549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41080" y="3154936"/>
                <a:ext cx="5893758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But, we are given to evaluate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4!</m:t>
                        </m:r>
                      </m:num>
                      <m:den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5 </m:t>
                            </m:r>
                          </m:sup>
                        </m:sSup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080" y="3154936"/>
                <a:ext cx="5893758" cy="491288"/>
              </a:xfrm>
              <a:prstGeom prst="rect">
                <a:avLst/>
              </a:prstGeom>
              <a:blipFill rotWithShape="0">
                <a:blip r:embed="rId6"/>
                <a:stretch>
                  <a:fillRect l="-82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869978" y="3666074"/>
                <a:ext cx="34804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Hence, we 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do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the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following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78" y="3666074"/>
                <a:ext cx="348044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57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2149" y="4308105"/>
            <a:ext cx="3312368" cy="710947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19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55922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692696"/>
            <a:ext cx="2175813" cy="8051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19672" y="91061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Evaluate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632" y="170080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Solution: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2369355" y="1763956"/>
            <a:ext cx="3129961" cy="656932"/>
            <a:chOff x="2369355" y="1763956"/>
            <a:chExt cx="3129961" cy="656932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7864" y="1763956"/>
              <a:ext cx="2151452" cy="65693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2369355" y="1915844"/>
                  <a:ext cx="958852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We know</a:t>
                  </a:r>
                  <a14:m>
                    <m:oMath xmlns:m="http://schemas.openxmlformats.org/officeDocument/2006/math">
                      <m:r>
                        <a:rPr lang="en-US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9355" y="1915844"/>
                  <a:ext cx="958852" cy="30777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911" t="-1961" b="-196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2483768" y="2490818"/>
            <a:ext cx="2304256" cy="651375"/>
            <a:chOff x="2483768" y="2490818"/>
            <a:chExt cx="2304256" cy="651375"/>
          </a:xfrm>
        </p:grpSpPr>
        <p:grpSp>
          <p:nvGrpSpPr>
            <p:cNvPr id="12" name="Group 11"/>
            <p:cNvGrpSpPr/>
            <p:nvPr/>
          </p:nvGrpSpPr>
          <p:grpSpPr>
            <a:xfrm>
              <a:off x="2483768" y="2490818"/>
              <a:ext cx="1533374" cy="651375"/>
              <a:chOff x="2483768" y="2490818"/>
              <a:chExt cx="1533374" cy="651375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83768" y="2490818"/>
                <a:ext cx="1232961" cy="651375"/>
              </a:xfrm>
              <a:prstGeom prst="rect">
                <a:avLst/>
              </a:prstGeom>
            </p:spPr>
          </p:pic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99561" y="2721514"/>
                <a:ext cx="217581" cy="189984"/>
              </a:xfrm>
              <a:prstGeom prst="rect">
                <a:avLst/>
              </a:prstGeom>
            </p:spPr>
          </p:pic>
        </p:grp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51613" y="2716470"/>
              <a:ext cx="636411" cy="264615"/>
            </a:xfrm>
            <a:prstGeom prst="rect">
              <a:avLst/>
            </a:prstGeom>
          </p:spPr>
        </p:pic>
      </p:grpSp>
      <p:grpSp>
        <p:nvGrpSpPr>
          <p:cNvPr id="21" name="Group 20"/>
          <p:cNvGrpSpPr/>
          <p:nvPr/>
        </p:nvGrpSpPr>
        <p:grpSpPr>
          <a:xfrm>
            <a:off x="2400981" y="3258125"/>
            <a:ext cx="6420961" cy="369332"/>
            <a:chOff x="1768100" y="3276667"/>
            <a:chExt cx="6420961" cy="369332"/>
          </a:xfrm>
        </p:grpSpPr>
        <p:sp>
          <p:nvSpPr>
            <p:cNvPr id="14" name="TextBox 13"/>
            <p:cNvSpPr txBox="1"/>
            <p:nvPr/>
          </p:nvSpPr>
          <p:spPr>
            <a:xfrm>
              <a:off x="1768100" y="3276667"/>
              <a:ext cx="2664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 the given problem, 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00595" y="3329184"/>
              <a:ext cx="2538448" cy="289500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64891" y="3321106"/>
              <a:ext cx="1124170" cy="280453"/>
            </a:xfrm>
            <a:prstGeom prst="rect">
              <a:avLst/>
            </a:prstGeom>
          </p:spPr>
        </p:pic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6998" y="3906656"/>
            <a:ext cx="6338843" cy="31795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99792" y="4473589"/>
            <a:ext cx="3617728" cy="75561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6597" y="5229199"/>
            <a:ext cx="1681547" cy="706535"/>
          </a:xfrm>
          <a:prstGeom prst="rect">
            <a:avLst/>
          </a:prstGeom>
        </p:spPr>
      </p:pic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20</a:t>
            </a:fld>
            <a:endParaRPr kumimoji="0" lang="en-US"/>
          </a:p>
        </p:txBody>
      </p:sp>
      <p:sp>
        <p:nvSpPr>
          <p:cNvPr id="15" name="TextBox 14"/>
          <p:cNvSpPr txBox="1"/>
          <p:nvPr/>
        </p:nvSpPr>
        <p:spPr>
          <a:xfrm>
            <a:off x="7380312" y="3861048"/>
            <a:ext cx="11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426602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785794"/>
            <a:ext cx="299300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794" y="1428736"/>
            <a:ext cx="5268988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29058" y="2000240"/>
            <a:ext cx="2062384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71538" y="2643182"/>
            <a:ext cx="2786082" cy="794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85852" y="3571876"/>
            <a:ext cx="4429156" cy="139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71802" y="5143512"/>
            <a:ext cx="4634994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143240" y="6000768"/>
            <a:ext cx="2714644" cy="438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21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500634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Solving Linear ODE Using Laplace Transform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-14000" contrast="29000"/>
          </a:blip>
          <a:stretch>
            <a:fillRect/>
          </a:stretch>
        </p:blipFill>
        <p:spPr>
          <a:xfrm>
            <a:off x="1331640" y="2492896"/>
            <a:ext cx="6984775" cy="34818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2699792" y="1484784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Summarizing the process: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22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86114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1093" y="1772815"/>
            <a:ext cx="2680907" cy="61657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23</a:t>
            </a:fld>
            <a:endParaRPr kumimoji="0" lang="en-US"/>
          </a:p>
        </p:txBody>
      </p:sp>
      <p:sp>
        <p:nvSpPr>
          <p:cNvPr id="5" name="TextBox 4"/>
          <p:cNvSpPr txBox="1"/>
          <p:nvPr/>
        </p:nvSpPr>
        <p:spPr>
          <a:xfrm>
            <a:off x="1813236" y="702929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Derivatives of Laplace Transformation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3096474"/>
            <a:ext cx="3312368" cy="6390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5808" y="4390002"/>
            <a:ext cx="2088232" cy="4107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lum bright="-18000"/>
          </a:blip>
          <a:stretch>
            <a:fillRect/>
          </a:stretch>
        </p:blipFill>
        <p:spPr>
          <a:xfrm>
            <a:off x="2233943" y="5044599"/>
            <a:ext cx="2879125" cy="4709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lum bright="-16000" contrast="29000"/>
          </a:blip>
          <a:stretch>
            <a:fillRect/>
          </a:stretch>
        </p:blipFill>
        <p:spPr>
          <a:xfrm>
            <a:off x="1891093" y="5749808"/>
            <a:ext cx="4675402" cy="3136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33943" y="121488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</a:t>
            </a:r>
            <a:r>
              <a:rPr lang="en-US" dirty="0"/>
              <a:t>,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6869" y="1214886"/>
            <a:ext cx="2364187" cy="2997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41227" y="1214886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and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4422" y="1243029"/>
            <a:ext cx="1537006" cy="3331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828377" y="2420888"/>
                <a:ext cx="5134932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sup>
                        </m:sSup>
                      </m:fName>
                      <m:e>
                        <m:nary>
                          <m:naryPr>
                            <m:limLoc m:val="undOvr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nary>
                              <m:naryPr>
                                <m:limLoc m:val="undOvr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4"/>
                                  </m:r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𝑑𝑡</m:t>
                                        </m:r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𝑠𝑡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nary>
                                      <m:naryPr>
                                        <m:limLoc m:val="undOvr"/>
                                        <m:subHide m:val="on"/>
                                        <m:sup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sSup>
                                          <m:sSup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p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𝑑𝑡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nary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nary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377" y="2420888"/>
                <a:ext cx="5134932" cy="504818"/>
              </a:xfrm>
              <a:prstGeom prst="rect">
                <a:avLst/>
              </a:prstGeom>
              <a:blipFill rotWithShape="0">
                <a:blip r:embed="rId9"/>
                <a:stretch>
                  <a:fillRect l="-1069" t="-95181" b="-15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805808" y="3884953"/>
                <a:ext cx="3442545" cy="445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(0−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)</m:t>
                        </m:r>
                      </m:fName>
                      <m:e>
                        <m:r>
                          <m:rPr>
                            <m:brk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nary>
                          <m:naryPr>
                            <m:limLoc m:val="undOvr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𝑠𝑡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808" y="3884953"/>
                <a:ext cx="3442545" cy="445058"/>
              </a:xfrm>
              <a:prstGeom prst="rect">
                <a:avLst/>
              </a:prstGeom>
              <a:blipFill rotWithShape="0">
                <a:blip r:embed="rId10"/>
                <a:stretch>
                  <a:fillRect l="-1416" t="-115068" b="-179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986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24</a:t>
            </a:fld>
            <a:endParaRPr kumimoji="0" lang="en-US"/>
          </a:p>
        </p:txBody>
      </p:sp>
      <p:sp>
        <p:nvSpPr>
          <p:cNvPr id="5" name="TextBox 4"/>
          <p:cNvSpPr txBox="1"/>
          <p:nvPr/>
        </p:nvSpPr>
        <p:spPr>
          <a:xfrm>
            <a:off x="1832317" y="75052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Derivatives of Laplace Transformation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085" y="1321345"/>
            <a:ext cx="2975184" cy="7200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186" y="2792431"/>
            <a:ext cx="3240360" cy="6089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748" y="4277684"/>
            <a:ext cx="2497240" cy="46441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2106" y="4926978"/>
            <a:ext cx="2642069" cy="2986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lum bright="-17000"/>
          </a:blip>
          <a:stretch>
            <a:fillRect/>
          </a:stretch>
        </p:blipFill>
        <p:spPr>
          <a:xfrm>
            <a:off x="2987824" y="5413467"/>
            <a:ext cx="3799432" cy="4237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lum bright="-16000"/>
          </a:blip>
          <a:stretch>
            <a:fillRect/>
          </a:stretch>
        </p:blipFill>
        <p:spPr>
          <a:xfrm>
            <a:off x="3779912" y="6161193"/>
            <a:ext cx="4924652" cy="46909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490" y="6212859"/>
            <a:ext cx="3317189" cy="4174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069308" y="2124123"/>
                <a:ext cx="5134932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sup>
                        </m:sSup>
                      </m:fName>
                      <m:e>
                        <m:nary>
                          <m:naryPr>
                            <m:limLoc m:val="undOvr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nary>
                              <m:naryPr>
                                <m:limLoc m:val="undOvr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4"/>
                                  </m:r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𝑑𝑡</m:t>
                                        </m:r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𝑠𝑡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nary>
                                      <m:naryPr>
                                        <m:limLoc m:val="undOvr"/>
                                        <m:subHide m:val="on"/>
                                        <m:supHide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sSup>
                                          <m:sSup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𝑑𝑡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nary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nary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08" y="2124123"/>
                <a:ext cx="5134932" cy="504818"/>
              </a:xfrm>
              <a:prstGeom prst="rect">
                <a:avLst/>
              </a:prstGeom>
              <a:blipFill rotWithShape="0">
                <a:blip r:embed="rId9"/>
                <a:stretch>
                  <a:fillRect l="-949" t="-95181" b="-15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097018" y="3627655"/>
                <a:ext cx="3594895" cy="445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(0−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)</m:t>
                        </m:r>
                      </m:fName>
                      <m:e>
                        <m:r>
                          <m:rPr>
                            <m:brk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nary>
                          <m:naryPr>
                            <m:limLoc m:val="undOvr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𝑠𝑡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7018" y="3627655"/>
                <a:ext cx="3594895" cy="445058"/>
              </a:xfrm>
              <a:prstGeom prst="rect">
                <a:avLst/>
              </a:prstGeom>
              <a:blipFill rotWithShape="0">
                <a:blip r:embed="rId10"/>
                <a:stretch>
                  <a:fillRect l="-1356" t="-115068" b="-179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3569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25</a:t>
            </a:fld>
            <a:endParaRPr kumimoji="0" lang="en-US"/>
          </a:p>
        </p:txBody>
      </p:sp>
      <p:sp>
        <p:nvSpPr>
          <p:cNvPr id="5" name="TextBox 4"/>
          <p:cNvSpPr txBox="1"/>
          <p:nvPr/>
        </p:nvSpPr>
        <p:spPr>
          <a:xfrm>
            <a:off x="1835696" y="787783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Derivatives of Laplace Transformation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lum bright="-22000"/>
          </a:blip>
          <a:stretch>
            <a:fillRect/>
          </a:stretch>
        </p:blipFill>
        <p:spPr>
          <a:xfrm>
            <a:off x="395536" y="1844824"/>
            <a:ext cx="8182414" cy="2520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lum bright="-16000"/>
          </a:blip>
          <a:stretch>
            <a:fillRect/>
          </a:stretch>
        </p:blipFill>
        <p:spPr>
          <a:xfrm>
            <a:off x="1663572" y="5157192"/>
            <a:ext cx="4924652" cy="46909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47664" y="4725144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Recall, for understanding</a:t>
            </a:r>
          </a:p>
        </p:txBody>
      </p:sp>
    </p:spTree>
    <p:extLst>
      <p:ext uri="{BB962C8B-B14F-4D97-AF65-F5344CB8AC3E}">
        <p14:creationId xmlns:p14="http://schemas.microsoft.com/office/powerpoint/2010/main" val="3552236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20000" contrast="36000"/>
          </a:blip>
          <a:srcRect/>
          <a:stretch>
            <a:fillRect/>
          </a:stretch>
        </p:blipFill>
        <p:spPr bwMode="auto">
          <a:xfrm>
            <a:off x="2629435" y="720312"/>
            <a:ext cx="5111786" cy="500066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400715" y="722709"/>
            <a:ext cx="22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Problem: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6202" y="1556792"/>
            <a:ext cx="22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Solution: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26</a:t>
            </a:fld>
            <a:endParaRPr kumimoji="0"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1748096"/>
            <a:ext cx="2429658" cy="3799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2313" y="2262538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Taking the Laplace Transformation on both sides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23" y="3653893"/>
            <a:ext cx="6808236" cy="73963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5696" y="2845944"/>
            <a:ext cx="4318267" cy="64856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lum bright="-10000" contrast="22000"/>
          </a:blip>
          <a:stretch>
            <a:fillRect/>
          </a:stretch>
        </p:blipFill>
        <p:spPr>
          <a:xfrm>
            <a:off x="3707904" y="5771131"/>
            <a:ext cx="3888433" cy="7379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472888" y="4359639"/>
                <a:ext cx="5043881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.1−5−3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𝑠𝑌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888" y="4359639"/>
                <a:ext cx="5043881" cy="52501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797978" y="5065385"/>
                <a:ext cx="4718791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−5−3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𝑠𝑌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 +2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978" y="5065385"/>
                <a:ext cx="4718791" cy="52501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27</a:t>
            </a:fld>
            <a:endParaRPr kumimoji="0"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-9000" contrast="20000"/>
          </a:blip>
          <a:stretch>
            <a:fillRect/>
          </a:stretch>
        </p:blipFill>
        <p:spPr>
          <a:xfrm>
            <a:off x="1907704" y="970347"/>
            <a:ext cx="4268490" cy="6730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1916832"/>
            <a:ext cx="2304256" cy="662546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>
            <a:lum bright="-21000" contrast="36000"/>
          </a:blip>
          <a:srcRect/>
          <a:stretch>
            <a:fillRect/>
          </a:stretch>
        </p:blipFill>
        <p:spPr bwMode="auto">
          <a:xfrm>
            <a:off x="899592" y="3284984"/>
            <a:ext cx="7301890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>
            <a:lum bright="-21000" contrast="36000"/>
          </a:blip>
          <a:srcRect/>
          <a:stretch>
            <a:fillRect/>
          </a:stretch>
        </p:blipFill>
        <p:spPr bwMode="auto">
          <a:xfrm>
            <a:off x="879400" y="4681592"/>
            <a:ext cx="7013913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879400" y="2852776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Now, use the partial fraction as 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259632" y="5601118"/>
            <a:ext cx="5399562" cy="408618"/>
            <a:chOff x="1079794" y="5829566"/>
            <a:chExt cx="5399562" cy="408618"/>
          </a:xfrm>
        </p:grpSpPr>
        <p:sp>
          <p:nvSpPr>
            <p:cNvPr id="11" name="TextBox 10"/>
            <p:cNvSpPr txBox="1"/>
            <p:nvPr/>
          </p:nvSpPr>
          <p:spPr>
            <a:xfrm>
              <a:off x="1079794" y="5868852"/>
              <a:ext cx="3276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For, s=1, we have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72464" y="5829566"/>
              <a:ext cx="1601076" cy="359487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5018635" y="5855185"/>
              <a:ext cx="146072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So, A= -16/5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259632" y="6111292"/>
            <a:ext cx="5335377" cy="420972"/>
            <a:chOff x="1079794" y="6242079"/>
            <a:chExt cx="5335377" cy="420972"/>
          </a:xfrm>
        </p:grpSpPr>
        <p:sp>
          <p:nvSpPr>
            <p:cNvPr id="13" name="Rectangle 12"/>
            <p:cNvSpPr/>
            <p:nvPr/>
          </p:nvSpPr>
          <p:spPr>
            <a:xfrm>
              <a:off x="5018635" y="6293719"/>
              <a:ext cx="13965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So, B= 25/6</a:t>
              </a: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1079794" y="6242079"/>
              <a:ext cx="3355774" cy="369332"/>
              <a:chOff x="1079794" y="6242079"/>
              <a:chExt cx="3355774" cy="369332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1079794" y="6242079"/>
                <a:ext cx="20121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For, s=2, we have</a:t>
                </a:r>
              </a:p>
            </p:txBody>
          </p:sp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89349" y="6304349"/>
                <a:ext cx="1346219" cy="30706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02325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28</a:t>
            </a:fld>
            <a:endParaRPr kumimoji="0" lang="en-US"/>
          </a:p>
        </p:txBody>
      </p:sp>
      <p:sp>
        <p:nvSpPr>
          <p:cNvPr id="7" name="TextBox 6"/>
          <p:cNvSpPr txBox="1"/>
          <p:nvPr/>
        </p:nvSpPr>
        <p:spPr>
          <a:xfrm>
            <a:off x="1796181" y="2204864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Therefore</a:t>
            </a:r>
            <a:r>
              <a:rPr lang="en-US" dirty="0"/>
              <a:t>,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011" y="836267"/>
            <a:ext cx="1523069" cy="31664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619672" y="809921"/>
            <a:ext cx="2153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For, s= -4, we have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80112" y="835253"/>
            <a:ext cx="1409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So, C= 1/30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5" y="1533220"/>
            <a:ext cx="2880321" cy="4311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68810" y="3468697"/>
            <a:ext cx="6347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Taking the inverse Laplace on both sides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4" cstate="print">
            <a:lum bright="-21000" contrast="36000"/>
          </a:blip>
          <a:srcRect/>
          <a:stretch>
            <a:fillRect/>
          </a:stretch>
        </p:blipFill>
        <p:spPr bwMode="auto">
          <a:xfrm>
            <a:off x="1962802" y="4904707"/>
            <a:ext cx="4786346" cy="733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264" y="5638293"/>
            <a:ext cx="362635" cy="334734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2023668" y="2657743"/>
            <a:ext cx="5287231" cy="640077"/>
            <a:chOff x="2023668" y="2657743"/>
            <a:chExt cx="5287231" cy="640077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6" cstate="print">
              <a:lum bright="-21000" contrast="36000"/>
            </a:blip>
            <a:srcRect/>
            <a:stretch>
              <a:fillRect/>
            </a:stretch>
          </p:blipFill>
          <p:spPr bwMode="auto">
            <a:xfrm>
              <a:off x="2667429" y="2657743"/>
              <a:ext cx="4643470" cy="6400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23668" y="2718714"/>
              <a:ext cx="815785" cy="393469"/>
            </a:xfrm>
            <a:prstGeom prst="rect">
              <a:avLst/>
            </a:prstGeom>
          </p:spPr>
        </p:pic>
      </p:grpSp>
      <p:grpSp>
        <p:nvGrpSpPr>
          <p:cNvPr id="24" name="Group 23"/>
          <p:cNvGrpSpPr/>
          <p:nvPr/>
        </p:nvGrpSpPr>
        <p:grpSpPr>
          <a:xfrm>
            <a:off x="2032660" y="3967099"/>
            <a:ext cx="6283755" cy="640815"/>
            <a:chOff x="2032660" y="3967099"/>
            <a:chExt cx="6283755" cy="640815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32660" y="3967099"/>
              <a:ext cx="1082349" cy="490945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9">
              <a:lum bright="-15000" contrast="26000"/>
            </a:blip>
            <a:stretch>
              <a:fillRect/>
            </a:stretch>
          </p:blipFill>
          <p:spPr>
            <a:xfrm>
              <a:off x="3181119" y="3967348"/>
              <a:ext cx="5135296" cy="6405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0658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7544" y="1090593"/>
            <a:ext cx="5759689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207859" y="261525"/>
            <a:ext cx="5442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2060"/>
                </a:solidFill>
              </a:rPr>
              <a:t>Exercise 7.2 (9</a:t>
            </a:r>
            <a:r>
              <a:rPr lang="en-AU" sz="2400" b="1" baseline="30000" dirty="0">
                <a:solidFill>
                  <a:srgbClr val="002060"/>
                </a:solidFill>
              </a:rPr>
              <a:t>th</a:t>
            </a:r>
            <a:r>
              <a:rPr lang="en-AU" sz="2400" b="1" dirty="0">
                <a:solidFill>
                  <a:srgbClr val="002060"/>
                </a:solidFill>
              </a:rPr>
              <a:t> Edition)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29</a:t>
            </a:fld>
            <a:endParaRPr kumimoji="0" lang="en-US"/>
          </a:p>
        </p:txBody>
      </p:sp>
      <p:grpSp>
        <p:nvGrpSpPr>
          <p:cNvPr id="7" name="Group 6"/>
          <p:cNvGrpSpPr/>
          <p:nvPr/>
        </p:nvGrpSpPr>
        <p:grpSpPr>
          <a:xfrm>
            <a:off x="525974" y="1916814"/>
            <a:ext cx="6516590" cy="3958527"/>
            <a:chOff x="525974" y="1916814"/>
            <a:chExt cx="6516590" cy="3958527"/>
          </a:xfrm>
        </p:grpSpPr>
        <p:grpSp>
          <p:nvGrpSpPr>
            <p:cNvPr id="3" name="Group 2"/>
            <p:cNvGrpSpPr/>
            <p:nvPr/>
          </p:nvGrpSpPr>
          <p:grpSpPr>
            <a:xfrm>
              <a:off x="525974" y="1916814"/>
              <a:ext cx="6516590" cy="3958527"/>
              <a:chOff x="525974" y="1916814"/>
              <a:chExt cx="6516590" cy="3958527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525974" y="3400864"/>
                <a:ext cx="10715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Solving</a:t>
                </a:r>
              </a:p>
            </p:txBody>
          </p:sp>
          <p:grpSp>
            <p:nvGrpSpPr>
              <p:cNvPr id="2" name="Group 1"/>
              <p:cNvGrpSpPr/>
              <p:nvPr/>
            </p:nvGrpSpPr>
            <p:grpSpPr>
              <a:xfrm>
                <a:off x="815552" y="1916814"/>
                <a:ext cx="6227012" cy="3958527"/>
                <a:chOff x="785786" y="1928802"/>
                <a:chExt cx="6227012" cy="3958527"/>
              </a:xfrm>
            </p:grpSpPr>
            <p:pic>
              <p:nvPicPr>
                <p:cNvPr id="1027" name="Picture 3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1500166" y="1928802"/>
                  <a:ext cx="4619625" cy="3333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028" name="Picture 4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1000100" y="2571744"/>
                  <a:ext cx="5429250" cy="447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030" name="Picture 6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2071670" y="3786190"/>
                  <a:ext cx="4941128" cy="8572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031" name="Picture 7"/>
                <p:cNvPicPr>
                  <a:picLocks noChangeAspect="1" noChangeArrowheads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1428728" y="3429000"/>
                  <a:ext cx="1952625" cy="352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032" name="Picture 8"/>
                <p:cNvPicPr>
                  <a:picLocks noChangeAspect="1" noChangeArrowheads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2571736" y="5000636"/>
                  <a:ext cx="2714644" cy="88669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sp>
              <p:nvSpPr>
                <p:cNvPr id="13" name="TextBox 12"/>
                <p:cNvSpPr txBox="1"/>
                <p:nvPr/>
              </p:nvSpPr>
              <p:spPr>
                <a:xfrm>
                  <a:off x="785786" y="4714884"/>
                  <a:ext cx="46434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/>
                    <a:t>The Inverse Laplace hence gives</a:t>
                  </a:r>
                </a:p>
              </p:txBody>
            </p:sp>
          </p:grpSp>
        </p:grpSp>
        <p:sp>
          <p:nvSpPr>
            <p:cNvPr id="6" name="TextBox 5"/>
            <p:cNvSpPr txBox="1"/>
            <p:nvPr/>
          </p:nvSpPr>
          <p:spPr>
            <a:xfrm>
              <a:off x="1458494" y="4047966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Y(s)=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1052" y="678637"/>
            <a:ext cx="6750891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1" name="Group 10"/>
          <p:cNvGrpSpPr/>
          <p:nvPr/>
        </p:nvGrpSpPr>
        <p:grpSpPr>
          <a:xfrm>
            <a:off x="714348" y="1357298"/>
            <a:ext cx="7102441" cy="4786346"/>
            <a:chOff x="714348" y="1357298"/>
            <a:chExt cx="7102441" cy="4786346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14348" y="1357298"/>
              <a:ext cx="4714908" cy="363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4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071538" y="1857364"/>
              <a:ext cx="6745251" cy="642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5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428860" y="2786058"/>
              <a:ext cx="2112524" cy="357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6" name="Picture 8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571604" y="3357562"/>
              <a:ext cx="5895451" cy="642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7" name="Picture 9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714611" y="4286256"/>
              <a:ext cx="4891687" cy="7143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8" name="Picture 10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928925" y="5357826"/>
              <a:ext cx="3435147" cy="7858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3" name="TextBox 12"/>
            <p:cNvSpPr txBox="1"/>
            <p:nvPr/>
          </p:nvSpPr>
          <p:spPr>
            <a:xfrm>
              <a:off x="1214414" y="2786058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Solving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14348" y="5143512"/>
              <a:ext cx="4643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The Inverse Laplace hence gives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30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31</a:t>
            </a:fld>
            <a:endParaRPr kumimoji="0"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118536" y="1407586"/>
            <a:ext cx="5627008" cy="4752528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691680" y="404586"/>
            <a:ext cx="5317172" cy="383197"/>
            <a:chOff x="1691680" y="404586"/>
            <a:chExt cx="5317172" cy="383197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35696" y="404586"/>
              <a:ext cx="5173156" cy="383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TextBox 6"/>
            <p:cNvSpPr txBox="1"/>
            <p:nvPr/>
          </p:nvSpPr>
          <p:spPr>
            <a:xfrm flipH="1">
              <a:off x="1691680" y="418451"/>
              <a:ext cx="57606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38</a:t>
              </a:r>
            </a:p>
          </p:txBody>
        </p:sp>
      </p:grpSp>
      <p:sp>
        <p:nvSpPr>
          <p:cNvPr id="9" name="Flowchart: Sequential Access Storage 8"/>
          <p:cNvSpPr/>
          <p:nvPr/>
        </p:nvSpPr>
        <p:spPr>
          <a:xfrm>
            <a:off x="7399722" y="5999536"/>
            <a:ext cx="1368152" cy="576064"/>
          </a:xfrm>
          <a:prstGeom prst="flowChartMagneticTap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Cont. to next page</a:t>
            </a:r>
          </a:p>
        </p:txBody>
      </p:sp>
    </p:spTree>
    <p:extLst>
      <p:ext uri="{BB962C8B-B14F-4D97-AF65-F5344CB8AC3E}">
        <p14:creationId xmlns:p14="http://schemas.microsoft.com/office/powerpoint/2010/main" val="1267203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32</a:t>
            </a:fld>
            <a:endParaRPr kumimoji="0"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123728" y="980728"/>
            <a:ext cx="5904656" cy="5040560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2843808" y="4653136"/>
            <a:ext cx="36004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580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Chapter 7.1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Problems#2,5,12,18,31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Chapter 7.2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Problems#2,11,19,22,35,36,37,38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33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043208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39752" y="2636912"/>
            <a:ext cx="58326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solidFill>
                  <a:srgbClr val="00B050"/>
                </a:solidFill>
                <a:latin typeface="Bookman Old Style" pitchFamily="18" charset="0"/>
              </a:rPr>
              <a:t>Thank You.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34</a:t>
            </a:fld>
            <a:endParaRPr kumimoji="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1239</TotalTime>
  <Words>913</Words>
  <Application>Microsoft Office PowerPoint</Application>
  <PresentationFormat>On-screen Show (4:3)</PresentationFormat>
  <Paragraphs>182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9" baseType="lpstr">
      <vt:lpstr>Yu Gothic Medium</vt:lpstr>
      <vt:lpstr>Arial</vt:lpstr>
      <vt:lpstr>Berlin Sans FB</vt:lpstr>
      <vt:lpstr>Bookman Old Style</vt:lpstr>
      <vt:lpstr>Calibri</vt:lpstr>
      <vt:lpstr>Cambria Math</vt:lpstr>
      <vt:lpstr>Century Gothic</vt:lpstr>
      <vt:lpstr>MathematicalPi-One</vt:lpstr>
      <vt:lpstr>StoneSans-Semibold</vt:lpstr>
      <vt:lpstr>Times-Italic</vt:lpstr>
      <vt:lpstr>TimesNewRoman</vt:lpstr>
      <vt:lpstr>Wingdings</vt:lpstr>
      <vt:lpstr>Wingdings 3</vt:lpstr>
      <vt:lpstr>ZapfDingbats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Solving Linear ODE Using Laplace Transform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 Do List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NSU</dc:creator>
  <cp:lastModifiedBy>Dr. Mohammad Sahadet Hossain</cp:lastModifiedBy>
  <cp:revision>109</cp:revision>
  <dcterms:created xsi:type="dcterms:W3CDTF">2015-11-07T07:08:14Z</dcterms:created>
  <dcterms:modified xsi:type="dcterms:W3CDTF">2025-07-09T03:36:37Z</dcterms:modified>
</cp:coreProperties>
</file>