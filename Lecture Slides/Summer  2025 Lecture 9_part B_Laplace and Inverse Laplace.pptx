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handoutMasterIdLst>
    <p:handoutMasterId r:id="rId20"/>
  </p:handoutMasterIdLst>
  <p:sldIdLst>
    <p:sldId id="256" r:id="rId2"/>
    <p:sldId id="292" r:id="rId3"/>
    <p:sldId id="259" r:id="rId4"/>
    <p:sldId id="293" r:id="rId5"/>
    <p:sldId id="294" r:id="rId6"/>
    <p:sldId id="295" r:id="rId7"/>
    <p:sldId id="261" r:id="rId8"/>
    <p:sldId id="296" r:id="rId9"/>
    <p:sldId id="263" r:id="rId10"/>
    <p:sldId id="264" r:id="rId11"/>
    <p:sldId id="283" r:id="rId12"/>
    <p:sldId id="284" r:id="rId13"/>
    <p:sldId id="285" r:id="rId14"/>
    <p:sldId id="297" r:id="rId15"/>
    <p:sldId id="286" r:id="rId16"/>
    <p:sldId id="287" r:id="rId17"/>
    <p:sldId id="299" r:id="rId18"/>
    <p:sldId id="288" r:id="rId19"/>
  </p:sldIdLst>
  <p:sldSz cx="9144000" cy="6858000" type="screen4x3"/>
  <p:notesSz cx="9874250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17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3123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83B537-2AF7-442B-851A-C3E234E3E9FF}" type="datetimeFigureOut">
              <a:rPr lang="en-US" smtClean="0"/>
              <a:pPr/>
              <a:t>7/9/2025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3123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ED0DC-B954-4703-A39F-C60B99E70A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76233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71069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10082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144541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708266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006113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12386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91745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178681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80317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7/9/2025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954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7/9/2025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99022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7/9/2025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7/9/2025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2606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7/9/2025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398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132907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204892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8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45000"/>
                <a:lumOff val="55000"/>
              </a:schemeClr>
            </a:gs>
            <a:gs pos="93805">
              <a:schemeClr val="accent4">
                <a:lumMod val="30000"/>
                <a:lumOff val="70000"/>
              </a:schemeClr>
            </a:gs>
            <a:gs pos="87000">
              <a:schemeClr val="bg2">
                <a:lumMod val="9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7/9/2025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313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5.png"/><Relationship Id="rId7" Type="http://schemas.openxmlformats.org/officeDocument/2006/relationships/image" Target="../media/image9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14.emf"/><Relationship Id="rId7" Type="http://schemas.openxmlformats.org/officeDocument/2006/relationships/image" Target="../media/image18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18.emf"/><Relationship Id="rId4" Type="http://schemas.openxmlformats.org/officeDocument/2006/relationships/image" Target="../media/image15.emf"/><Relationship Id="rId9" Type="http://schemas.openxmlformats.org/officeDocument/2006/relationships/image" Target="../media/image17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image" Target="../media/image23.png"/><Relationship Id="rId7" Type="http://schemas.openxmlformats.org/officeDocument/2006/relationships/image" Target="../media/image21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emf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image" Target="../media/image27.png"/><Relationship Id="rId7" Type="http://schemas.openxmlformats.org/officeDocument/2006/relationships/image" Target="../media/image31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emf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13" Type="http://schemas.openxmlformats.org/officeDocument/2006/relationships/image" Target="../media/image42.png"/><Relationship Id="rId3" Type="http://schemas.openxmlformats.org/officeDocument/2006/relationships/image" Target="../media/image34.emf"/><Relationship Id="rId7" Type="http://schemas.openxmlformats.org/officeDocument/2006/relationships/image" Target="../media/image41.png"/><Relationship Id="rId12" Type="http://schemas.openxmlformats.org/officeDocument/2006/relationships/image" Target="../media/image41.em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emf"/><Relationship Id="rId11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39.emf"/><Relationship Id="rId4" Type="http://schemas.openxmlformats.org/officeDocument/2006/relationships/image" Target="../media/image35.emf"/><Relationship Id="rId9" Type="http://schemas.openxmlformats.org/officeDocument/2006/relationships/image" Target="../media/image3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143108" y="500042"/>
            <a:ext cx="6172200" cy="1894362"/>
          </a:xfrm>
          <a:prstGeom prst="rect">
            <a:avLst/>
          </a:prstGeom>
        </p:spPr>
        <p:txBody>
          <a:bodyPr vert="horz" anchor="b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3000" b="1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000" b="1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MAT 350</a:t>
            </a:r>
            <a:br>
              <a:rPr kumimoji="0" lang="en-US" sz="3000" b="1" i="0" u="none" strike="noStrike" kern="1200" cap="sm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000" b="1" i="0" u="none" strike="noStrike" kern="1200" cap="small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Engineering mathematics</a:t>
            </a:r>
            <a:br>
              <a:rPr kumimoji="0" lang="en-US" sz="3000" b="1" i="0" u="none" strike="noStrike" kern="1200" cap="small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286000" y="5334000"/>
            <a:ext cx="6172200" cy="109267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Dr. M.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Sahadet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Hossain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Mth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)</a:t>
            </a:r>
          </a:p>
          <a:p>
            <a:pPr lvl="0">
              <a:buClr>
                <a:schemeClr val="accent1"/>
              </a:buClr>
              <a:buSzPct val="70000"/>
              <a:defRPr/>
            </a:pPr>
            <a:r>
              <a:rPr lang="en-US">
                <a:solidFill>
                  <a:srgbClr val="0070C0"/>
                </a:solidFill>
                <a:latin typeface="Berlin Sans FB" pitchFamily="34" charset="0"/>
              </a:rPr>
              <a:t>Professor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Berlin Sans FB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Department of Mathematics and Physics, NSU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3174" y="4286256"/>
            <a:ext cx="3786214" cy="400110"/>
          </a:xfrm>
          <a:prstGeom prst="rect">
            <a:avLst/>
          </a:prstGeom>
          <a:solidFill>
            <a:srgbClr val="00B0F0">
              <a:alpha val="94000"/>
            </a:srgbClr>
          </a:solidFill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Lecture: 9 Part: 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7744" y="2780928"/>
            <a:ext cx="52864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Laplace Transformation</a:t>
            </a:r>
          </a:p>
          <a:p>
            <a:r>
              <a:rPr lang="en-AU" sz="2400" b="1" dirty="0">
                <a:solidFill>
                  <a:srgbClr val="FF0000"/>
                </a:solidFill>
              </a:rPr>
              <a:t>Inverse Laplace Transformation</a:t>
            </a:r>
            <a:endParaRPr lang="en-AU" sz="24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95736" y="764704"/>
            <a:ext cx="40532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B3"/>
                </a:solidFill>
                <a:latin typeface="StoneSans"/>
              </a:rPr>
              <a:t>7.3   OPERATIONAL PROPERTIES I </a:t>
            </a:r>
          </a:p>
          <a:p>
            <a:r>
              <a:rPr lang="en-US" dirty="0">
                <a:solidFill>
                  <a:srgbClr val="0000B3"/>
                </a:solidFill>
                <a:latin typeface="StoneSans"/>
              </a:rPr>
              <a:t>        (of Laplace Transformation)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161400" y="1988840"/>
            <a:ext cx="64430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540000"/>
                </a:solidFill>
                <a:latin typeface="StoneSans-Semibold"/>
              </a:rPr>
              <a:t>REVIEW MATERIAL</a:t>
            </a:r>
          </a:p>
          <a:p>
            <a:pPr lvl="1"/>
            <a:r>
              <a:rPr lang="en-US" sz="800" dirty="0">
                <a:solidFill>
                  <a:srgbClr val="540000"/>
                </a:solidFill>
                <a:latin typeface="ZapfDingbats"/>
              </a:rPr>
              <a:t>● </a:t>
            </a:r>
            <a:r>
              <a:rPr lang="en-US" dirty="0">
                <a:solidFill>
                  <a:srgbClr val="000000"/>
                </a:solidFill>
                <a:latin typeface="TimesNewRoman"/>
              </a:rPr>
              <a:t>Keep practicing partial fraction decomposition</a:t>
            </a:r>
          </a:p>
          <a:p>
            <a:pPr lvl="1"/>
            <a:r>
              <a:rPr lang="en-US" sz="800" dirty="0">
                <a:solidFill>
                  <a:srgbClr val="540000"/>
                </a:solidFill>
                <a:latin typeface="ZapfDingbats"/>
              </a:rPr>
              <a:t>● </a:t>
            </a:r>
            <a:r>
              <a:rPr lang="en-US" dirty="0">
                <a:solidFill>
                  <a:srgbClr val="000000"/>
                </a:solidFill>
                <a:latin typeface="TimesNewRoman"/>
              </a:rPr>
              <a:t>Completion of the square</a:t>
            </a:r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2627784" y="4005064"/>
            <a:ext cx="4327710" cy="648072"/>
            <a:chOff x="2699792" y="4005064"/>
            <a:chExt cx="4327710" cy="648072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79801" y="4247152"/>
              <a:ext cx="747701" cy="405984"/>
            </a:xfrm>
            <a:prstGeom prst="rect">
              <a:avLst/>
            </a:prstGeom>
          </p:spPr>
        </p:pic>
        <p:grpSp>
          <p:nvGrpSpPr>
            <p:cNvPr id="9" name="Group 8"/>
            <p:cNvGrpSpPr/>
            <p:nvPr/>
          </p:nvGrpSpPr>
          <p:grpSpPr>
            <a:xfrm>
              <a:off x="2699792" y="4005064"/>
              <a:ext cx="3580010" cy="648072"/>
              <a:chOff x="2699792" y="4005064"/>
              <a:chExt cx="3580010" cy="648072"/>
            </a:xfrm>
          </p:grpSpPr>
          <p:pic>
            <p:nvPicPr>
              <p:cNvPr id="6" name="Picture 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99792" y="4005064"/>
                <a:ext cx="3268121" cy="648072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6042558" y="4276019"/>
                    <a:ext cx="237244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" name="TextBox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42558" y="4276019"/>
                    <a:ext cx="237244" cy="276999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l="-7692" r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760626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19761" y="343411"/>
            <a:ext cx="447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18266" y="1207543"/>
            <a:ext cx="4133854" cy="329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1825" y="1978886"/>
            <a:ext cx="5607522" cy="101460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lum bright="-9000" contrast="17000"/>
          </a:blip>
          <a:stretch>
            <a:fillRect/>
          </a:stretch>
        </p:blipFill>
        <p:spPr>
          <a:xfrm>
            <a:off x="3248380" y="3189258"/>
            <a:ext cx="2647239" cy="47948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6333" y="4240602"/>
            <a:ext cx="3609778" cy="8355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4407" y="5076166"/>
            <a:ext cx="2343951" cy="10038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4407" y="5911730"/>
            <a:ext cx="1414278" cy="642328"/>
          </a:xfrm>
          <a:prstGeom prst="rect">
            <a:avLst/>
          </a:prstGeom>
        </p:spPr>
      </p:pic>
      <p:sp>
        <p:nvSpPr>
          <p:cNvPr id="8" name="Oval Callout 7"/>
          <p:cNvSpPr/>
          <p:nvPr/>
        </p:nvSpPr>
        <p:spPr>
          <a:xfrm>
            <a:off x="6685182" y="3916328"/>
            <a:ext cx="1455770" cy="1031640"/>
          </a:xfrm>
          <a:prstGeom prst="wedgeEllipseCallout">
            <a:avLst>
              <a:gd name="adj1" fmla="val -155637"/>
              <a:gd name="adj2" fmla="val 91673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shifted by s-a.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672" y="3765512"/>
            <a:ext cx="2038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Proof:</a:t>
            </a:r>
          </a:p>
        </p:txBody>
      </p:sp>
      <p:sp>
        <p:nvSpPr>
          <p:cNvPr id="15" name="Oval Callout 14"/>
          <p:cNvSpPr/>
          <p:nvPr/>
        </p:nvSpPr>
        <p:spPr>
          <a:xfrm>
            <a:off x="6660232" y="5373216"/>
            <a:ext cx="2304256" cy="936104"/>
          </a:xfrm>
          <a:prstGeom prst="wedgeEllipseCallout">
            <a:avLst>
              <a:gd name="adj1" fmla="val -108901"/>
              <a:gd name="adj2" fmla="val 55829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Hence, F(s) is changed to F(s-a)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908720"/>
            <a:ext cx="4208802" cy="30963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lum bright="-19000"/>
          </a:blip>
          <a:stretch>
            <a:fillRect/>
          </a:stretch>
        </p:blipFill>
        <p:spPr>
          <a:xfrm>
            <a:off x="2078495" y="4923966"/>
            <a:ext cx="4180409" cy="61021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87624" y="5697751"/>
            <a:ext cx="7200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NewRoman"/>
              </a:rPr>
              <a:t>where s</a:t>
            </a:r>
            <a:r>
              <a:rPr lang="en-US" dirty="0">
                <a:latin typeface="Arial Narrow" panose="020B0606020202030204" pitchFamily="34" charset="0"/>
              </a:rPr>
              <a:t>→</a:t>
            </a:r>
            <a:r>
              <a:rPr lang="en-US" dirty="0">
                <a:latin typeface="TimesNewRoman"/>
              </a:rPr>
              <a:t> s-a means that in the Laplace transform </a:t>
            </a:r>
            <a:r>
              <a:rPr lang="en-US" i="1" dirty="0">
                <a:latin typeface="Times-Italic"/>
              </a:rPr>
              <a:t>F</a:t>
            </a:r>
            <a:r>
              <a:rPr lang="en-US" dirty="0">
                <a:latin typeface="TimesNewRoman"/>
              </a:rPr>
              <a:t>(</a:t>
            </a:r>
            <a:r>
              <a:rPr lang="en-US" i="1" dirty="0">
                <a:latin typeface="Times-Italic"/>
              </a:rPr>
              <a:t>s</a:t>
            </a:r>
            <a:r>
              <a:rPr lang="en-US" dirty="0">
                <a:latin typeface="TimesNewRoman"/>
              </a:rPr>
              <a:t>) of </a:t>
            </a:r>
            <a:r>
              <a:rPr lang="en-US" i="1" dirty="0">
                <a:latin typeface="Times-Italic"/>
              </a:rPr>
              <a:t>f </a:t>
            </a:r>
            <a:r>
              <a:rPr lang="en-US" dirty="0">
                <a:latin typeface="TimesNewRoman"/>
              </a:rPr>
              <a:t>(</a:t>
            </a:r>
            <a:r>
              <a:rPr lang="en-US" i="1" dirty="0">
                <a:latin typeface="Times-Italic"/>
              </a:rPr>
              <a:t>t</a:t>
            </a:r>
            <a:r>
              <a:rPr lang="en-US" dirty="0">
                <a:latin typeface="TimesNewRoman"/>
              </a:rPr>
              <a:t>) we replace the symbol </a:t>
            </a:r>
            <a:r>
              <a:rPr lang="en-US" i="1" dirty="0">
                <a:latin typeface="Times-Italic"/>
              </a:rPr>
              <a:t>s </a:t>
            </a:r>
            <a:r>
              <a:rPr lang="en-US" dirty="0">
                <a:latin typeface="TimesNewRoman"/>
              </a:rPr>
              <a:t>wherever it appears by </a:t>
            </a:r>
            <a:r>
              <a:rPr lang="en-US" i="1" dirty="0">
                <a:latin typeface="Times-Italic"/>
              </a:rPr>
              <a:t>s-a</a:t>
            </a:r>
            <a:r>
              <a:rPr lang="en-US" dirty="0">
                <a:latin typeface="TimesNewRoman"/>
              </a:rPr>
              <a:t>.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331640" y="4391063"/>
            <a:ext cx="63670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NewRoman"/>
              </a:rPr>
              <a:t>For emphasis it is sometimes useful to use the symbolism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064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764704"/>
            <a:ext cx="1958232" cy="3980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569460" y="811949"/>
            <a:ext cx="35702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540000"/>
                </a:solidFill>
                <a:latin typeface="Times-Bold"/>
              </a:rPr>
              <a:t>Using the Translation Theorem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lum bright="-10000" contrast="21000"/>
          </a:blip>
          <a:stretch>
            <a:fillRect/>
          </a:stretch>
        </p:blipFill>
        <p:spPr>
          <a:xfrm>
            <a:off x="1115616" y="1556792"/>
            <a:ext cx="6542449" cy="5760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59632" y="2420888"/>
            <a:ext cx="159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Solution: (a)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0078" y="2185242"/>
            <a:ext cx="1204458" cy="7122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974571" y="2942679"/>
                <a:ext cx="55343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Note that here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571" y="2942679"/>
                <a:ext cx="5534337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991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618447" y="2942679"/>
                <a:ext cx="3093283" cy="3724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it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premultiplied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by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447" y="2942679"/>
                <a:ext cx="3093283" cy="372410"/>
              </a:xfrm>
              <a:prstGeom prst="rect">
                <a:avLst/>
              </a:prstGeom>
              <a:blipFill rotWithShape="0"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1631013" y="3513678"/>
            <a:ext cx="6256490" cy="1216312"/>
            <a:chOff x="1631013" y="3513678"/>
            <a:chExt cx="6256490" cy="1216312"/>
          </a:xfrm>
        </p:grpSpPr>
        <p:sp>
          <p:nvSpPr>
            <p:cNvPr id="12" name="Rounded Rectangle 11"/>
            <p:cNvSpPr/>
            <p:nvPr/>
          </p:nvSpPr>
          <p:spPr>
            <a:xfrm>
              <a:off x="1631013" y="3513678"/>
              <a:ext cx="6117619" cy="1216312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2054855" y="3678526"/>
                  <a:ext cx="5832648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Hence, the transformation will follow  the Laplace Transformation of</a:t>
                  </a:r>
                  <a14:m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a14:m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, but there the s will be shifted by s-5 (since pre-multiplied by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a14:m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).</a:t>
                  </a: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4855" y="3678526"/>
                  <a:ext cx="5832648" cy="923330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836" t="-3289" b="-986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63625" y="4925379"/>
            <a:ext cx="2840423" cy="76607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6696" y="5691450"/>
            <a:ext cx="1341751" cy="88659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1739" y="5762807"/>
            <a:ext cx="1305488" cy="74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914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3" y="692696"/>
            <a:ext cx="2880321" cy="6205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619672" y="1556792"/>
                <a:ext cx="55343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Note that here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1556792"/>
                <a:ext cx="5534337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991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644008" y="1553714"/>
                <a:ext cx="321511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it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premultiplied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by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008" y="1553714"/>
                <a:ext cx="3215111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1729214" y="2185019"/>
            <a:ext cx="6117619" cy="121631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014185" y="2331510"/>
                <a:ext cx="583264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Hence, the transformation will follow  the Laplace Transformation of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but there the s will be shifted by s-(-2)= s+2 (since pre-multiplied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4185" y="2331510"/>
                <a:ext cx="5832648" cy="923330"/>
              </a:xfrm>
              <a:prstGeom prst="rect">
                <a:avLst/>
              </a:prstGeom>
              <a:blipFill rotWithShape="0">
                <a:blip r:embed="rId5"/>
                <a:stretch>
                  <a:fillRect l="-836"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1921" y="5534617"/>
            <a:ext cx="1774071" cy="630687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1729214" y="3789041"/>
            <a:ext cx="4643366" cy="506028"/>
            <a:chOff x="1729214" y="3789041"/>
            <a:chExt cx="4643366" cy="50602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29214" y="3789041"/>
              <a:ext cx="4582331" cy="504056"/>
            </a:xfrm>
            <a:prstGeom prst="rect">
              <a:avLst/>
            </a:prstGeom>
          </p:spPr>
        </p:pic>
        <p:sp>
          <p:nvSpPr>
            <p:cNvPr id="2" name="TextBox 1"/>
            <p:cNvSpPr txBox="1"/>
            <p:nvPr/>
          </p:nvSpPr>
          <p:spPr>
            <a:xfrm>
              <a:off x="5292460" y="3987292"/>
              <a:ext cx="1080120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s→ s-(-2)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851921" y="4509121"/>
            <a:ext cx="2510518" cy="720501"/>
            <a:chOff x="3851921" y="4509121"/>
            <a:chExt cx="2510518" cy="720501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51921" y="4509121"/>
              <a:ext cx="2179174" cy="720501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5282319" y="4886640"/>
              <a:ext cx="1080120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s→ s+2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4464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29748" y="852674"/>
            <a:ext cx="3071834" cy="338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lum bright="-20000" contrast="38000"/>
          </a:blip>
          <a:srcRect/>
          <a:stretch>
            <a:fillRect/>
          </a:stretch>
        </p:blipFill>
        <p:spPr bwMode="auto">
          <a:xfrm>
            <a:off x="1629748" y="1486762"/>
            <a:ext cx="5671493" cy="68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 cstate="print">
            <a:lum bright="-17000" contrast="28000"/>
          </a:blip>
          <a:srcRect/>
          <a:stretch>
            <a:fillRect/>
          </a:stretch>
        </p:blipFill>
        <p:spPr bwMode="auto">
          <a:xfrm>
            <a:off x="3350389" y="3879514"/>
            <a:ext cx="3453859" cy="73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 cstate="print">
            <a:lum bright="-17000" contrast="28000"/>
          </a:blip>
          <a:srcRect/>
          <a:stretch>
            <a:fillRect/>
          </a:stretch>
        </p:blipFill>
        <p:spPr bwMode="auto">
          <a:xfrm>
            <a:off x="3186391" y="5887694"/>
            <a:ext cx="3286148" cy="754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118979" y="3155142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Solution.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629" y="2622584"/>
            <a:ext cx="1668123" cy="37092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3768" y="2457328"/>
            <a:ext cx="3153504" cy="7613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55776" y="3155142"/>
            <a:ext cx="6336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Direct Inverse Laplace of the rational function is not possible. Hence we seek for it’s partial fractions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24971" y="4681407"/>
            <a:ext cx="439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Mathematical manipulation implies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19446" y="6136705"/>
            <a:ext cx="1230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Hence</a:t>
            </a:r>
            <a:r>
              <a:rPr lang="en-US" dirty="0"/>
              <a:t>,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5069" y="5133086"/>
            <a:ext cx="2587092" cy="2849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19446" y="5553905"/>
            <a:ext cx="6630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Now, s=3  implies B=11, and s=0 (or any value) implies A=2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92280" y="6136705"/>
            <a:ext cx="1440160" cy="505803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Next Slide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1403648" y="1052736"/>
            <a:ext cx="6832059" cy="778619"/>
            <a:chOff x="1983183" y="5888964"/>
            <a:chExt cx="6464266" cy="778619"/>
          </a:xfrm>
        </p:grpSpPr>
        <p:pic>
          <p:nvPicPr>
            <p:cNvPr id="11" name="Picture 7"/>
            <p:cNvPicPr>
              <a:picLocks noChangeAspect="1" noChangeArrowheads="1"/>
            </p:cNvPicPr>
            <p:nvPr/>
          </p:nvPicPr>
          <p:blipFill>
            <a:blip r:embed="rId2" cstate="print">
              <a:lum bright="-17000" contrast="28000"/>
            </a:blip>
            <a:srcRect/>
            <a:stretch>
              <a:fillRect/>
            </a:stretch>
          </p:blipFill>
          <p:spPr bwMode="auto">
            <a:xfrm>
              <a:off x="3161037" y="5888964"/>
              <a:ext cx="5286412" cy="778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2" name="TextBox 11"/>
            <p:cNvSpPr txBox="1"/>
            <p:nvPr/>
          </p:nvSpPr>
          <p:spPr>
            <a:xfrm>
              <a:off x="1983183" y="6032980"/>
              <a:ext cx="1368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Therefore,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475656" y="2132856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Now, 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483768" y="2131266"/>
            <a:ext cx="2304256" cy="741844"/>
            <a:chOff x="2483768" y="2131266"/>
            <a:chExt cx="2304256" cy="74184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3768" y="2131266"/>
              <a:ext cx="1378015" cy="741844"/>
            </a:xfrm>
            <a:prstGeom prst="rect">
              <a:avLst/>
            </a:prstGeom>
          </p:spPr>
        </p:pic>
        <p:grpSp>
          <p:nvGrpSpPr>
            <p:cNvPr id="6" name="Group 5"/>
            <p:cNvGrpSpPr/>
            <p:nvPr/>
          </p:nvGrpSpPr>
          <p:grpSpPr>
            <a:xfrm>
              <a:off x="3990257" y="2196856"/>
              <a:ext cx="797767" cy="610664"/>
              <a:chOff x="3990257" y="2196856"/>
              <a:chExt cx="797767" cy="610664"/>
            </a:xfrm>
          </p:grpSpPr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5976" y="2196856"/>
                <a:ext cx="432048" cy="610664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/>
                  <p:cNvSpPr txBox="1"/>
                  <p:nvPr/>
                </p:nvSpPr>
                <p:spPr>
                  <a:xfrm>
                    <a:off x="3990257" y="2442093"/>
                    <a:ext cx="237244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" name="TextBox 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90257" y="2442093"/>
                    <a:ext cx="237244" cy="276999"/>
                  </a:xfrm>
                  <a:prstGeom prst="rect">
                    <a:avLst/>
                  </a:prstGeom>
                  <a:blipFill rotWithShape="0">
                    <a:blip r:embed="rId5"/>
                    <a:stretch>
                      <a:fillRect l="-10526" r="-789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3660" y="3196798"/>
            <a:ext cx="1668123" cy="71470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193660" y="2867689"/>
            <a:ext cx="655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088909" y="3204922"/>
                <a:ext cx="4495569" cy="813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70C0"/>
                    </a:solidFill>
                  </a:rPr>
                  <a:t>is the inverse Laplace transformation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sz="20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20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b="1" dirty="0">
                    <a:solidFill>
                      <a:srgbClr val="0070C0"/>
                    </a:solidFill>
                  </a:rPr>
                  <a:t>  with a shifting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𝐬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8909" y="3204922"/>
                <a:ext cx="4495569" cy="813941"/>
              </a:xfrm>
              <a:prstGeom prst="rect">
                <a:avLst/>
              </a:prstGeom>
              <a:blipFill rotWithShape="0">
                <a:blip r:embed="rId7"/>
                <a:stretch>
                  <a:fillRect l="-1221" t="-4511" r="-2307" b="-1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3660" y="4233353"/>
            <a:ext cx="2465921" cy="42520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7475" y="4342967"/>
            <a:ext cx="954645" cy="23816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>
            <a:lum bright="-10000" contrast="29000"/>
          </a:blip>
          <a:stretch>
            <a:fillRect/>
          </a:stretch>
        </p:blipFill>
        <p:spPr>
          <a:xfrm>
            <a:off x="2214869" y="4770798"/>
            <a:ext cx="4877411" cy="73943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5130" y="5829720"/>
            <a:ext cx="4967448" cy="68619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8224" y="5946645"/>
            <a:ext cx="1849441" cy="4523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15616" y="5445224"/>
            <a:ext cx="1406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Finally</a:t>
            </a:r>
            <a:r>
              <a:rPr lang="en-US" dirty="0"/>
              <a:t>,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18551" y="6429640"/>
            <a:ext cx="419100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950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lum bright="-25000" contrast="39000"/>
          </a:blip>
          <a:srcRect/>
          <a:stretch>
            <a:fillRect/>
          </a:stretch>
        </p:blipFill>
        <p:spPr bwMode="auto">
          <a:xfrm>
            <a:off x="714348" y="571480"/>
            <a:ext cx="5286412" cy="107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5" name="Group 4"/>
          <p:cNvGrpSpPr/>
          <p:nvPr/>
        </p:nvGrpSpPr>
        <p:grpSpPr>
          <a:xfrm>
            <a:off x="1357289" y="2000240"/>
            <a:ext cx="6672309" cy="3661613"/>
            <a:chOff x="1357289" y="2000240"/>
            <a:chExt cx="6672309" cy="3661613"/>
          </a:xfrm>
        </p:grpSpPr>
        <p:pic>
          <p:nvPicPr>
            <p:cNvPr id="7171" name="Picture 3"/>
            <p:cNvPicPr>
              <a:picLocks noChangeAspect="1" noChangeArrowheads="1"/>
            </p:cNvPicPr>
            <p:nvPr/>
          </p:nvPicPr>
          <p:blipFill>
            <a:blip r:embed="rId3" cstate="print">
              <a:lum bright="-25000" contrast="39000"/>
            </a:blip>
            <a:srcRect/>
            <a:stretch>
              <a:fillRect/>
            </a:stretch>
          </p:blipFill>
          <p:spPr bwMode="auto">
            <a:xfrm>
              <a:off x="1357289" y="2000240"/>
              <a:ext cx="6672309" cy="1214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172" name="Picture 4"/>
            <p:cNvPicPr>
              <a:picLocks noChangeAspect="1" noChangeArrowheads="1"/>
            </p:cNvPicPr>
            <p:nvPr/>
          </p:nvPicPr>
          <p:blipFill>
            <a:blip r:embed="rId4" cstate="print">
              <a:lum bright="-25000" contrast="39000"/>
            </a:blip>
            <a:srcRect/>
            <a:stretch>
              <a:fillRect/>
            </a:stretch>
          </p:blipFill>
          <p:spPr bwMode="auto">
            <a:xfrm>
              <a:off x="2786050" y="3286124"/>
              <a:ext cx="4643470" cy="23757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" name="Oval Callout 1"/>
          <p:cNvSpPr/>
          <p:nvPr/>
        </p:nvSpPr>
        <p:spPr>
          <a:xfrm>
            <a:off x="2786050" y="5733291"/>
            <a:ext cx="2376264" cy="792053"/>
          </a:xfrm>
          <a:prstGeom prst="wedgeEllipseCallout">
            <a:avLst>
              <a:gd name="adj1" fmla="val 53865"/>
              <a:gd name="adj2" fmla="val -5138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We did the partial fraction in example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lum bright="-21000" contrast="38000"/>
          </a:blip>
          <a:srcRect/>
          <a:stretch>
            <a:fillRect/>
          </a:stretch>
        </p:blipFill>
        <p:spPr bwMode="auto">
          <a:xfrm>
            <a:off x="2357422" y="1214422"/>
            <a:ext cx="4340976" cy="756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>
            <a:lum bright="-21000" contrast="38000"/>
          </a:blip>
          <a:srcRect/>
          <a:stretch>
            <a:fillRect/>
          </a:stretch>
        </p:blipFill>
        <p:spPr bwMode="auto">
          <a:xfrm>
            <a:off x="785786" y="2285992"/>
            <a:ext cx="7529565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print">
            <a:lum bright="-21000" contrast="38000"/>
          </a:blip>
          <a:srcRect/>
          <a:stretch>
            <a:fillRect/>
          </a:stretch>
        </p:blipFill>
        <p:spPr bwMode="auto">
          <a:xfrm>
            <a:off x="1571604" y="3643313"/>
            <a:ext cx="6312764" cy="798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 cstate="print">
            <a:lum bright="-21000" contrast="38000"/>
          </a:blip>
          <a:srcRect/>
          <a:stretch>
            <a:fillRect/>
          </a:stretch>
        </p:blipFill>
        <p:spPr bwMode="auto">
          <a:xfrm>
            <a:off x="2571736" y="5000636"/>
            <a:ext cx="3928590" cy="588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1763688" y="744004"/>
            <a:ext cx="4572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Using partial fraction: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00" y="3143248"/>
            <a:ext cx="24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We know</a:t>
            </a:r>
            <a:r>
              <a:rPr lang="en-AU" dirty="0"/>
              <a:t>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538" y="4925606"/>
            <a:ext cx="128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Hence,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/>
          <p:cNvGrpSpPr/>
          <p:nvPr/>
        </p:nvGrpSpPr>
        <p:grpSpPr>
          <a:xfrm>
            <a:off x="1115616" y="1844824"/>
            <a:ext cx="6901786" cy="3718820"/>
            <a:chOff x="1000100" y="1714488"/>
            <a:chExt cx="6901786" cy="3718820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28" y="2428868"/>
              <a:ext cx="5652532" cy="4286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000100" y="3071810"/>
              <a:ext cx="6901786" cy="6429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6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357290" y="3643314"/>
              <a:ext cx="2928958" cy="409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7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786050" y="4000504"/>
              <a:ext cx="2428892" cy="777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8" name="Picture 6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071802" y="4786322"/>
              <a:ext cx="2286016" cy="646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9" name="Picture 7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142976" y="1714488"/>
              <a:ext cx="5750759" cy="5000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10" name="Rectangle 9"/>
          <p:cNvSpPr/>
          <p:nvPr/>
        </p:nvSpPr>
        <p:spPr>
          <a:xfrm>
            <a:off x="1464447" y="539521"/>
            <a:ext cx="70723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Exercise 7.3</a:t>
            </a:r>
          </a:p>
          <a:p>
            <a:r>
              <a:rPr lang="en-AU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the Laplace transform to solve the given initial-value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596" y="2357430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Solution</a:t>
            </a:r>
            <a:r>
              <a:rPr lang="en-AU" dirty="0">
                <a:solidFill>
                  <a:srgbClr val="FF0000"/>
                </a:solidFill>
              </a:rPr>
              <a:t>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>
            <a:off x="1143298" y="1772816"/>
            <a:ext cx="6992986" cy="4379263"/>
            <a:chOff x="928662" y="1357298"/>
            <a:chExt cx="6992986" cy="4379263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000099" y="1357298"/>
              <a:ext cx="5408877" cy="357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099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357290" y="1857364"/>
              <a:ext cx="6221600" cy="571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100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000099" y="2500306"/>
              <a:ext cx="2949969" cy="4286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101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928926" y="2928934"/>
              <a:ext cx="2143140" cy="7540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102" name="Picture 6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714744" y="3643314"/>
              <a:ext cx="4206904" cy="7143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103" name="Picture 7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286116" y="5000636"/>
              <a:ext cx="3143272" cy="735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0" name="TextBox 9"/>
            <p:cNvSpPr txBox="1"/>
            <p:nvPr/>
          </p:nvSpPr>
          <p:spPr>
            <a:xfrm>
              <a:off x="928662" y="4500570"/>
              <a:ext cx="4643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The Inverse Laplace then gives</a:t>
              </a:r>
            </a:p>
          </p:txBody>
        </p:sp>
      </p:grpSp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763688" y="621301"/>
            <a:ext cx="6375842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1122999" y="1286157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Solution: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260648"/>
            <a:ext cx="5334037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1115616" y="1156332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Solution: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231739" y="1232757"/>
            <a:ext cx="5688634" cy="51845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966020" y="562372"/>
            <a:ext cx="6192688" cy="587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023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571472" y="285728"/>
            <a:ext cx="6143668" cy="2864532"/>
            <a:chOff x="571472" y="285728"/>
            <a:chExt cx="6143668" cy="2864532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71472" y="285728"/>
              <a:ext cx="6143668" cy="2856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" name="TextBox 4"/>
            <p:cNvSpPr txBox="1"/>
            <p:nvPr/>
          </p:nvSpPr>
          <p:spPr>
            <a:xfrm>
              <a:off x="1331640" y="2780928"/>
              <a:ext cx="285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=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95536" y="3573016"/>
            <a:ext cx="8586240" cy="2857520"/>
            <a:chOff x="357158" y="3286124"/>
            <a:chExt cx="8586240" cy="2857520"/>
          </a:xfrm>
        </p:grpSpPr>
        <p:sp>
          <p:nvSpPr>
            <p:cNvPr id="8" name="TextBox 7"/>
            <p:cNvSpPr txBox="1"/>
            <p:nvPr/>
          </p:nvSpPr>
          <p:spPr>
            <a:xfrm>
              <a:off x="6676762" y="3356992"/>
              <a:ext cx="2266636" cy="12252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AU" dirty="0"/>
                <a:t>Note:  </a:t>
              </a:r>
              <a:r>
                <a:rPr lang="en-AU" dirty="0" err="1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r>
                <a:rPr lang="en-AU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  <a:r>
                <a:rPr lang="en-AU" dirty="0">
                  <a:latin typeface="Arial" panose="020B0604020202020204" pitchFamily="34" charset="0"/>
                  <a:cs typeface="Arial" panose="020B0604020202020204" pitchFamily="34" charset="0"/>
                </a:rPr>
                <a:t>/</a:t>
              </a:r>
              <a:r>
                <a:rPr lang="en-AU" dirty="0" err="1">
                  <a:latin typeface="Arial" panose="020B0604020202020204" pitchFamily="34" charset="0"/>
                  <a:cs typeface="Arial" panose="020B0604020202020204" pitchFamily="34" charset="0"/>
                </a:rPr>
                <a:t>dt</a:t>
              </a:r>
              <a:r>
                <a:rPr lang="en-AU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AU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AU" dirty="0">
                  <a:latin typeface="Arial" panose="020B0604020202020204" pitchFamily="34" charset="0"/>
                  <a:cs typeface="Arial" panose="020B0604020202020204" pitchFamily="34" charset="0"/>
                </a:rPr>
                <a:t>(t),</a:t>
              </a:r>
            </a:p>
            <a:p>
              <a:endParaRPr lang="en-AU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AU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AU" dirty="0">
                  <a:latin typeface="Arial" panose="020B0604020202020204" pitchFamily="34" charset="0"/>
                  <a:cs typeface="Arial" panose="020B0604020202020204" pitchFamily="34" charset="0"/>
                </a:rPr>
                <a:t>(0)=0 implies </a:t>
              </a:r>
              <a:r>
                <a:rPr lang="en-AU" dirty="0" err="1">
                  <a:latin typeface="Arial" panose="020B0604020202020204" pitchFamily="34" charset="0"/>
                  <a:cs typeface="Arial" panose="020B0604020202020204" pitchFamily="34" charset="0"/>
                </a:rPr>
                <a:t>dq</a:t>
              </a:r>
              <a:r>
                <a:rPr lang="en-AU" dirty="0">
                  <a:latin typeface="Arial" panose="020B0604020202020204" pitchFamily="34" charset="0"/>
                  <a:cs typeface="Arial" panose="020B0604020202020204" pitchFamily="34" charset="0"/>
                </a:rPr>
                <a:t>/</a:t>
              </a:r>
              <a:r>
                <a:rPr lang="en-AU" dirty="0" err="1">
                  <a:latin typeface="Arial" panose="020B0604020202020204" pitchFamily="34" charset="0"/>
                  <a:cs typeface="Arial" panose="020B0604020202020204" pitchFamily="34" charset="0"/>
                </a:rPr>
                <a:t>dt</a:t>
              </a:r>
              <a:r>
                <a:rPr lang="en-AU" dirty="0">
                  <a:latin typeface="Arial" panose="020B0604020202020204" pitchFamily="34" charset="0"/>
                  <a:cs typeface="Arial" panose="020B0604020202020204" pitchFamily="34" charset="0"/>
                </a:rPr>
                <a:t> at t=0 is 0 (zero).</a:t>
              </a:r>
            </a:p>
          </p:txBody>
        </p:sp>
        <p:grpSp>
          <p:nvGrpSpPr>
            <p:cNvPr id="2" name="Group 10"/>
            <p:cNvGrpSpPr/>
            <p:nvPr/>
          </p:nvGrpSpPr>
          <p:grpSpPr>
            <a:xfrm>
              <a:off x="857224" y="3643314"/>
              <a:ext cx="5459367" cy="2500330"/>
              <a:chOff x="857224" y="3643314"/>
              <a:chExt cx="5459367" cy="2500330"/>
            </a:xfrm>
          </p:grpSpPr>
          <p:pic>
            <p:nvPicPr>
              <p:cNvPr id="6147" name="Picture 3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7224" y="3643314"/>
                <a:ext cx="3139949" cy="5000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6148" name="Picture 4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714480" y="4214818"/>
                <a:ext cx="4550824" cy="6429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6149" name="Picture 5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857225" y="5000636"/>
                <a:ext cx="4500594" cy="4121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6150" name="Picture 6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1928794" y="5500702"/>
                <a:ext cx="4387797" cy="6429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sp>
          <p:nvSpPr>
            <p:cNvPr id="12" name="TextBox 11"/>
            <p:cNvSpPr txBox="1"/>
            <p:nvPr/>
          </p:nvSpPr>
          <p:spPr>
            <a:xfrm>
              <a:off x="357158" y="3286124"/>
              <a:ext cx="11430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rgbClr val="FF0000"/>
                  </a:solidFill>
                </a:rPr>
                <a:t>Solution: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0191" y="841538"/>
            <a:ext cx="3811314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Group 10"/>
          <p:cNvGrpSpPr/>
          <p:nvPr/>
        </p:nvGrpSpPr>
        <p:grpSpPr>
          <a:xfrm>
            <a:off x="1357290" y="1643050"/>
            <a:ext cx="6219987" cy="4305233"/>
            <a:chOff x="1500166" y="1500174"/>
            <a:chExt cx="6219987" cy="4305233"/>
          </a:xfrm>
        </p:grpSpPr>
        <p:pic>
          <p:nvPicPr>
            <p:cNvPr id="7171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857356" y="1500174"/>
              <a:ext cx="3071834" cy="6839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172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554636" y="2500221"/>
              <a:ext cx="5165517" cy="7143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7" name="TextBox 6"/>
            <p:cNvSpPr txBox="1"/>
            <p:nvPr/>
          </p:nvSpPr>
          <p:spPr>
            <a:xfrm>
              <a:off x="6959079" y="2843768"/>
              <a:ext cx="285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+</a:t>
              </a:r>
            </a:p>
          </p:txBody>
        </p:sp>
        <p:pic>
          <p:nvPicPr>
            <p:cNvPr id="7173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500166" y="3643314"/>
              <a:ext cx="4929222" cy="714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174" name="Picture 6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643042" y="4786322"/>
              <a:ext cx="400050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175" name="Picture 7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2285984" y="5214950"/>
              <a:ext cx="3857652" cy="5904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Chapter 7.3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Problems#2, 3, 13, 16,22,23,25,26,28, 29,30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17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686907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39752" y="2636912"/>
            <a:ext cx="58326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000" b="1" dirty="0">
                <a:solidFill>
                  <a:srgbClr val="00B050"/>
                </a:solidFill>
                <a:latin typeface="Bookman Old Style" pitchFamily="18" charset="0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647</TotalTime>
  <Words>400</Words>
  <Application>Microsoft Office PowerPoint</Application>
  <PresentationFormat>On-screen Show (4:3)</PresentationFormat>
  <Paragraphs>61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4" baseType="lpstr">
      <vt:lpstr>Arial</vt:lpstr>
      <vt:lpstr>Arial Narrow</vt:lpstr>
      <vt:lpstr>Berlin Sans FB</vt:lpstr>
      <vt:lpstr>Bookman Old Style</vt:lpstr>
      <vt:lpstr>Calibri</vt:lpstr>
      <vt:lpstr>Cambria Math</vt:lpstr>
      <vt:lpstr>Century Gothic</vt:lpstr>
      <vt:lpstr>StoneSans</vt:lpstr>
      <vt:lpstr>StoneSans-Semibold</vt:lpstr>
      <vt:lpstr>Times-Bold</vt:lpstr>
      <vt:lpstr>Times-Italic</vt:lpstr>
      <vt:lpstr>TimesNewRoman</vt:lpstr>
      <vt:lpstr>Wingdings</vt:lpstr>
      <vt:lpstr>Wingdings 3</vt:lpstr>
      <vt:lpstr>ZapfDingbats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 Do List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NSU</dc:creator>
  <cp:lastModifiedBy>Dr. Mohammad Sahadet Hossain</cp:lastModifiedBy>
  <cp:revision>64</cp:revision>
  <dcterms:created xsi:type="dcterms:W3CDTF">2015-11-07T07:08:14Z</dcterms:created>
  <dcterms:modified xsi:type="dcterms:W3CDTF">2025-07-09T03:37:07Z</dcterms:modified>
</cp:coreProperties>
</file>