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1"/>
  </p:notesMasterIdLst>
  <p:sldIdLst>
    <p:sldId id="257" r:id="rId2"/>
    <p:sldId id="284" r:id="rId3"/>
    <p:sldId id="302" r:id="rId4"/>
    <p:sldId id="304" r:id="rId5"/>
    <p:sldId id="305" r:id="rId6"/>
    <p:sldId id="306" r:id="rId7"/>
    <p:sldId id="307" r:id="rId8"/>
    <p:sldId id="308" r:id="rId9"/>
    <p:sldId id="309" r:id="rId10"/>
    <p:sldId id="310" r:id="rId11"/>
    <p:sldId id="311" r:id="rId12"/>
    <p:sldId id="312" r:id="rId13"/>
    <p:sldId id="313" r:id="rId14"/>
    <p:sldId id="256" r:id="rId15"/>
    <p:sldId id="285" r:id="rId16"/>
    <p:sldId id="286" r:id="rId17"/>
    <p:sldId id="288" r:id="rId18"/>
    <p:sldId id="289" r:id="rId19"/>
    <p:sldId id="290" r:id="rId20"/>
    <p:sldId id="291" r:id="rId21"/>
    <p:sldId id="287" r:id="rId22"/>
    <p:sldId id="300" r:id="rId23"/>
    <p:sldId id="299" r:id="rId24"/>
    <p:sldId id="301" r:id="rId25"/>
    <p:sldId id="293" r:id="rId26"/>
    <p:sldId id="294" r:id="rId27"/>
    <p:sldId id="295" r:id="rId28"/>
    <p:sldId id="292" r:id="rId29"/>
    <p:sldId id="298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647B5D-6D8A-4093-A09C-4509EA8B4138}" type="datetimeFigureOut">
              <a:rPr lang="en-US" smtClean="0"/>
              <a:t>10/8/2023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7D7230-BB2A-4F38-BAEA-B432CF4578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7107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28DD6-513E-4582-AA5B-81A347EE2664}" type="datetime1">
              <a:rPr lang="en-US" smtClean="0"/>
              <a:t>10/8/2023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7432A-3993-43D4-9912-472AC28F29E0}" type="datetime1">
              <a:rPr lang="en-US" smtClean="0"/>
              <a:t>10/8/2023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0676A-9B73-48B4-B7E7-94B3A3FC3AD9}" type="datetime1">
              <a:rPr lang="en-US" smtClean="0"/>
              <a:t>10/8/2023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10DB5-98FC-4E42-A47F-90B650BE7EE7}" type="datetime1">
              <a:rPr lang="en-US" smtClean="0"/>
              <a:t>10/8/2023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794E6-E9EF-4349-9287-D049D1B60FCC}" type="datetime1">
              <a:rPr lang="en-US" smtClean="0"/>
              <a:t>10/8/2023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469BB-3718-4B44-9D28-E424E5BDCCA5}" type="datetime1">
              <a:rPr lang="en-US" smtClean="0"/>
              <a:t>10/8/2023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91FE3-7D6D-4EA1-BDD6-BAEAF2912520}" type="datetime1">
              <a:rPr lang="en-US" smtClean="0"/>
              <a:t>10/8/2023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0D54D-5638-416A-B6A5-C023A358BC93}" type="datetime1">
              <a:rPr lang="en-US" smtClean="0"/>
              <a:t>10/8/2023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41A3B-2F0B-462B-8518-6CB4D9CE6D39}" type="datetime1">
              <a:rPr lang="en-US" smtClean="0"/>
              <a:t>10/8/2023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00DEE-96DD-4010-B6A4-EB1080AE0ED0}" type="datetime1">
              <a:rPr lang="en-US" smtClean="0"/>
              <a:t>10/8/2023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25A15-6FA7-41AC-99A3-769F7361653A}" type="datetime1">
              <a:rPr lang="en-US" smtClean="0"/>
              <a:t>10/8/2023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4B6EF-18A4-4884-A508-87140DEDE337}" type="datetime1">
              <a:rPr lang="en-US" smtClean="0"/>
              <a:t>10/8/2023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D4E55-9216-4557-8EBD-7C2C0CE29993}" type="datetime1">
              <a:rPr lang="en-US" smtClean="0"/>
              <a:t>10/8/2023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7D59F-147D-4B5D-B45F-853581DF4AE7}" type="datetime1">
              <a:rPr lang="en-US" smtClean="0"/>
              <a:t>10/8/2023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0017F-2DE5-48BD-8D6D-24A159606556}" type="datetime1">
              <a:rPr lang="en-US" smtClean="0"/>
              <a:t>10/8/2023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0089D-109E-489B-B095-D79095062C0E}" type="datetime1">
              <a:rPr lang="en-US" smtClean="0"/>
              <a:t>10/8/2023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EC591C-A7E8-4086-A2D8-671AEAC9AD29}" type="datetime1">
              <a:rPr lang="en-US" smtClean="0"/>
              <a:t>10/8/2023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image" Target="../media/image7.png"/><Relationship Id="rId7" Type="http://schemas.openxmlformats.org/officeDocument/2006/relationships/oleObject" Target="../embeddings/oleObject2.bin"/><Relationship Id="rId12" Type="http://schemas.openxmlformats.org/officeDocument/2006/relationships/oleObject" Target="../embeddings/oleObject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6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1.bin"/><Relationship Id="rId10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oleObject" Target="../embeddings/oleObject4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0.png"/><Relationship Id="rId7" Type="http://schemas.openxmlformats.org/officeDocument/2006/relationships/oleObject" Target="../embeddings/oleObject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7.bin"/><Relationship Id="rId10" Type="http://schemas.openxmlformats.org/officeDocument/2006/relationships/image" Target="../media/image13.png"/><Relationship Id="rId4" Type="http://schemas.openxmlformats.org/officeDocument/2006/relationships/image" Target="../media/image9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emf"/><Relationship Id="rId2" Type="http://schemas.openxmlformats.org/officeDocument/2006/relationships/image" Target="../media/image60.emf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emf"/><Relationship Id="rId2" Type="http://schemas.openxmlformats.org/officeDocument/2006/relationships/image" Target="../media/image62.em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emf"/><Relationship Id="rId2" Type="http://schemas.openxmlformats.org/officeDocument/2006/relationships/image" Target="../media/image64.emf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emf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emf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emf"/><Relationship Id="rId3" Type="http://schemas.openxmlformats.org/officeDocument/2006/relationships/image" Target="../media/image69.emf"/><Relationship Id="rId7" Type="http://schemas.openxmlformats.org/officeDocument/2006/relationships/image" Target="../media/image72.emf"/><Relationship Id="rId2" Type="http://schemas.openxmlformats.org/officeDocument/2006/relationships/image" Target="../media/image68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1.emf"/><Relationship Id="rId5" Type="http://schemas.openxmlformats.org/officeDocument/2006/relationships/image" Target="../media/image170.png"/><Relationship Id="rId10" Type="http://schemas.openxmlformats.org/officeDocument/2006/relationships/image" Target="../media/image75.emf"/><Relationship Id="rId4" Type="http://schemas.openxmlformats.org/officeDocument/2006/relationships/image" Target="../media/image70.emf"/><Relationship Id="rId9" Type="http://schemas.openxmlformats.org/officeDocument/2006/relationships/image" Target="../media/image74.e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emf"/><Relationship Id="rId3" Type="http://schemas.openxmlformats.org/officeDocument/2006/relationships/image" Target="../media/image75.emf"/><Relationship Id="rId7" Type="http://schemas.openxmlformats.org/officeDocument/2006/relationships/image" Target="../media/image80.emf"/><Relationship Id="rId2" Type="http://schemas.openxmlformats.org/officeDocument/2006/relationships/image" Target="../media/image76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9.emf"/><Relationship Id="rId5" Type="http://schemas.openxmlformats.org/officeDocument/2006/relationships/image" Target="../media/image78.emf"/><Relationship Id="rId10" Type="http://schemas.openxmlformats.org/officeDocument/2006/relationships/image" Target="../media/image83.gif"/><Relationship Id="rId4" Type="http://schemas.openxmlformats.org/officeDocument/2006/relationships/image" Target="../media/image77.emf"/><Relationship Id="rId9" Type="http://schemas.openxmlformats.org/officeDocument/2006/relationships/image" Target="../media/image82.gi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emf"/><Relationship Id="rId2" Type="http://schemas.openxmlformats.org/officeDocument/2006/relationships/image" Target="../media/image84.emf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emf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emf"/><Relationship Id="rId2" Type="http://schemas.openxmlformats.org/officeDocument/2006/relationships/image" Target="../media/image87.emf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emf"/><Relationship Id="rId2" Type="http://schemas.openxmlformats.org/officeDocument/2006/relationships/image" Target="../media/image89.emf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emf"/><Relationship Id="rId2" Type="http://schemas.openxmlformats.org/officeDocument/2006/relationships/image" Target="../media/image91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5.emf"/><Relationship Id="rId5" Type="http://schemas.openxmlformats.org/officeDocument/2006/relationships/image" Target="../media/image94.emf"/><Relationship Id="rId4" Type="http://schemas.openxmlformats.org/officeDocument/2006/relationships/image" Target="../media/image93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emf"/><Relationship Id="rId2" Type="http://schemas.openxmlformats.org/officeDocument/2006/relationships/image" Target="../media/image96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8.emf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emf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emf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3667108" y="500042"/>
            <a:ext cx="6172200" cy="1894362"/>
          </a:xfrm>
          <a:prstGeom prst="rect">
            <a:avLst/>
          </a:prstGeom>
        </p:spPr>
        <p:txBody>
          <a:bodyPr vert="horz" anchor="b">
            <a:normAutofit fontScale="97500"/>
          </a:bodyPr>
          <a:lstStyle/>
          <a:p>
            <a:pPr defTabSz="914400">
              <a:spcBef>
                <a:spcPct val="0"/>
              </a:spcBef>
              <a:defRPr/>
            </a:pPr>
            <a:br>
              <a:rPr lang="en-US" sz="3000" b="1" cap="small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n-US" sz="3000" b="1" cap="small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MAT 350</a:t>
            </a:r>
            <a:br>
              <a:rPr lang="en-US" sz="3000" b="1" cap="small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n-US" sz="3000" b="1" cap="small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Engineering mathematics</a:t>
            </a:r>
            <a:br>
              <a:rPr lang="en-US" sz="3000" b="1" cap="small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</a:br>
            <a:endParaRPr lang="en-US" sz="3000" b="1" cap="small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3810000" y="5334000"/>
            <a:ext cx="6172200" cy="109267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defTabSz="914400">
              <a:buClr>
                <a:schemeClr val="accent1"/>
              </a:buClr>
              <a:buSzPct val="70000"/>
              <a:defRPr/>
            </a:pPr>
            <a:r>
              <a:rPr lang="en-US" dirty="0">
                <a:solidFill>
                  <a:srgbClr val="002060"/>
                </a:solidFill>
                <a:latin typeface="Berlin Sans FB" pitchFamily="34" charset="0"/>
              </a:rPr>
              <a:t>Dr. M. </a:t>
            </a:r>
            <a:r>
              <a:rPr lang="en-US" dirty="0" err="1">
                <a:solidFill>
                  <a:srgbClr val="002060"/>
                </a:solidFill>
                <a:latin typeface="Berlin Sans FB" pitchFamily="34" charset="0"/>
              </a:rPr>
              <a:t>Sahadet</a:t>
            </a:r>
            <a:r>
              <a:rPr lang="en-US" dirty="0">
                <a:solidFill>
                  <a:srgbClr val="002060"/>
                </a:solidFill>
                <a:latin typeface="Berlin Sans FB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Berlin Sans FB" pitchFamily="34" charset="0"/>
              </a:rPr>
              <a:t>Hossain</a:t>
            </a:r>
            <a:r>
              <a:rPr lang="en-US" dirty="0">
                <a:solidFill>
                  <a:srgbClr val="002060"/>
                </a:solidFill>
                <a:latin typeface="Berlin Sans FB" pitchFamily="34" charset="0"/>
              </a:rPr>
              <a:t> (</a:t>
            </a:r>
            <a:r>
              <a:rPr lang="en-US" dirty="0" err="1">
                <a:solidFill>
                  <a:srgbClr val="002060"/>
                </a:solidFill>
                <a:latin typeface="Berlin Sans FB" pitchFamily="34" charset="0"/>
              </a:rPr>
              <a:t>Mth</a:t>
            </a:r>
            <a:r>
              <a:rPr lang="en-US" dirty="0">
                <a:solidFill>
                  <a:srgbClr val="002060"/>
                </a:solidFill>
                <a:latin typeface="Berlin Sans FB" pitchFamily="34" charset="0"/>
              </a:rPr>
              <a:t>)</a:t>
            </a:r>
          </a:p>
          <a:p>
            <a:pPr defTabSz="914400">
              <a:buClr>
                <a:schemeClr val="accent1"/>
              </a:buClr>
              <a:buSzPct val="70000"/>
              <a:defRPr/>
            </a:pPr>
            <a:r>
              <a:rPr lang="en-US" dirty="0">
                <a:solidFill>
                  <a:srgbClr val="002060"/>
                </a:solidFill>
                <a:latin typeface="Berlin Sans FB" pitchFamily="34" charset="0"/>
              </a:rPr>
              <a:t>Professor</a:t>
            </a:r>
          </a:p>
          <a:p>
            <a:pPr defTabSz="914400">
              <a:buClr>
                <a:schemeClr val="accent1"/>
              </a:buClr>
              <a:buSzPct val="70000"/>
              <a:defRPr/>
            </a:pPr>
            <a:r>
              <a:rPr lang="en-US" dirty="0">
                <a:solidFill>
                  <a:srgbClr val="002060"/>
                </a:solidFill>
                <a:latin typeface="Berlin Sans FB" pitchFamily="34" charset="0"/>
              </a:rPr>
              <a:t>Department of Mathematics and Physics, NSU.</a:t>
            </a:r>
          </a:p>
        </p:txBody>
      </p:sp>
      <p:sp>
        <p:nvSpPr>
          <p:cNvPr id="6" name="Rectangle 5"/>
          <p:cNvSpPr/>
          <p:nvPr/>
        </p:nvSpPr>
        <p:spPr>
          <a:xfrm>
            <a:off x="4038600" y="2697786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b="1" dirty="0">
                <a:solidFill>
                  <a:schemeClr val="tx1">
                    <a:lumMod val="95000"/>
                  </a:schemeClr>
                </a:solidFill>
              </a:rPr>
              <a:t>System of First order ODEs: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AU" b="1" dirty="0">
                <a:solidFill>
                  <a:schemeClr val="tx1">
                    <a:lumMod val="95000"/>
                  </a:schemeClr>
                </a:solidFill>
              </a:rPr>
              <a:t>Non-homogeneous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7174" y="4000504"/>
            <a:ext cx="3786214" cy="400110"/>
          </a:xfrm>
          <a:prstGeom prst="rect">
            <a:avLst/>
          </a:prstGeom>
          <a:solidFill>
            <a:srgbClr val="00B0F0">
              <a:alpha val="94000"/>
            </a:srgbClr>
          </a:solidFill>
        </p:spPr>
        <p:txBody>
          <a:bodyPr wrap="square" rtlCol="0">
            <a:spAutoFit/>
          </a:bodyPr>
          <a:lstStyle/>
          <a:p>
            <a:r>
              <a:rPr lang="en-AU" sz="2000" b="1" dirty="0">
                <a:solidFill>
                  <a:srgbClr val="FF0000"/>
                </a:solidFill>
              </a:rPr>
              <a:t>Lecture: 11 B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B383128-9FBD-4FA8-8A73-C9B8CB651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3276600" y="337590"/>
            <a:ext cx="635798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1" dirty="0">
                <a:solidFill>
                  <a:srgbClr val="C00000"/>
                </a:solidFill>
              </a:rPr>
              <a:t>NON-HOMOGENEOUS LINEAR SYSTEM of ODEs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452662" y="1000109"/>
            <a:ext cx="70009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The general solution of a </a:t>
            </a:r>
            <a:r>
              <a:rPr lang="en-AU" dirty="0" err="1"/>
              <a:t>nonhomogeneous</a:t>
            </a:r>
            <a:r>
              <a:rPr lang="en-AU" dirty="0"/>
              <a:t> linear</a:t>
            </a:r>
          </a:p>
          <a:p>
            <a:r>
              <a:rPr lang="en-AU" dirty="0"/>
              <a:t>system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67240" y="1714489"/>
            <a:ext cx="1857388" cy="354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24298" y="2285993"/>
            <a:ext cx="2857520" cy="255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666976" y="2779922"/>
            <a:ext cx="3500462" cy="3006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096000" y="2786058"/>
            <a:ext cx="3071834" cy="285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666977" y="3071810"/>
            <a:ext cx="3095647" cy="285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Rectangle 12"/>
          <p:cNvSpPr/>
          <p:nvPr/>
        </p:nvSpPr>
        <p:spPr>
          <a:xfrm>
            <a:off x="2381224" y="4500571"/>
            <a:ext cx="750099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The methods of </a:t>
            </a:r>
            <a:r>
              <a:rPr lang="en-AU" b="1" dirty="0"/>
              <a:t>undetermined coefficient and variation of parameters are used to  </a:t>
            </a:r>
            <a:r>
              <a:rPr lang="en-AU" dirty="0"/>
              <a:t>find  the particular solutions of </a:t>
            </a:r>
            <a:r>
              <a:rPr lang="en-AU" dirty="0" err="1"/>
              <a:t>nonhomogeneous</a:t>
            </a:r>
            <a:r>
              <a:rPr lang="en-AU" dirty="0"/>
              <a:t> linear ODEs. We only focus on of </a:t>
            </a:r>
            <a:r>
              <a:rPr lang="en-AU" b="1" dirty="0">
                <a:solidFill>
                  <a:srgbClr val="0070C0"/>
                </a:solidFill>
              </a:rPr>
              <a:t>undetermined coefficient.</a:t>
            </a:r>
            <a:r>
              <a:rPr lang="en-AU" dirty="0">
                <a:solidFill>
                  <a:srgbClr val="0070C0"/>
                </a:solidFill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65A73D7-560C-4B1B-9F73-B0EBFD226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648C2A-3FD9-4C8F-83AB-473C333B5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FE726A-8478-45C3-938E-B9D3F73165E6}"/>
              </a:ext>
            </a:extLst>
          </p:cNvPr>
          <p:cNvSpPr/>
          <p:nvPr/>
        </p:nvSpPr>
        <p:spPr>
          <a:xfrm>
            <a:off x="3108820" y="1503659"/>
            <a:ext cx="635798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1" dirty="0">
                <a:solidFill>
                  <a:srgbClr val="C00000"/>
                </a:solidFill>
              </a:rPr>
              <a:t>NON-HOMOGENEOUS LINEAR SYSTEM of ODEs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CED1EF-1496-445E-B645-82A207DA7E4A}"/>
              </a:ext>
            </a:extLst>
          </p:cNvPr>
          <p:cNvSpPr txBox="1"/>
          <p:nvPr/>
        </p:nvSpPr>
        <p:spPr>
          <a:xfrm>
            <a:off x="3615655" y="2189527"/>
            <a:ext cx="44797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Two Methods:</a:t>
            </a:r>
          </a:p>
          <a:p>
            <a:pPr marL="342900" indent="-342900">
              <a:buAutoNum type="arabicParenBoth"/>
            </a:pPr>
            <a:r>
              <a:rPr lang="en-US" b="1" dirty="0">
                <a:solidFill>
                  <a:srgbClr val="00B050"/>
                </a:solidFill>
              </a:rPr>
              <a:t>Undetermined Coefficients</a:t>
            </a:r>
          </a:p>
          <a:p>
            <a:pPr marL="342900" indent="-342900">
              <a:buAutoNum type="arabicParenBoth"/>
            </a:pPr>
            <a:r>
              <a:rPr lang="en-US" b="1" dirty="0">
                <a:solidFill>
                  <a:srgbClr val="00B050"/>
                </a:solidFill>
              </a:rPr>
              <a:t>Variation of Parameters</a:t>
            </a:r>
          </a:p>
        </p:txBody>
      </p:sp>
    </p:spTree>
    <p:extLst>
      <p:ext uri="{BB962C8B-B14F-4D97-AF65-F5344CB8AC3E}">
        <p14:creationId xmlns:p14="http://schemas.microsoft.com/office/powerpoint/2010/main" val="10030858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95472" y="428604"/>
            <a:ext cx="34579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b="1" dirty="0">
                <a:solidFill>
                  <a:srgbClr val="C00000"/>
                </a:solidFill>
              </a:rPr>
              <a:t>UNDETERMINED COEFFICIENTS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>
            <a:lum bright="-16000" contrast="29000"/>
          </a:blip>
          <a:srcRect/>
          <a:stretch>
            <a:fillRect/>
          </a:stretch>
        </p:blipFill>
        <p:spPr bwMode="auto">
          <a:xfrm>
            <a:off x="2166910" y="928670"/>
            <a:ext cx="5857916" cy="3412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 cstate="print">
            <a:lum bright="-11000" contrast="22000"/>
          </a:blip>
          <a:srcRect/>
          <a:stretch>
            <a:fillRect/>
          </a:stretch>
        </p:blipFill>
        <p:spPr bwMode="auto">
          <a:xfrm>
            <a:off x="3095604" y="4643447"/>
            <a:ext cx="5357850" cy="7779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3076" name="Object 4"/>
          <p:cNvGraphicFramePr>
            <a:graphicFrameLocks noChangeAspect="1"/>
          </p:cNvGraphicFramePr>
          <p:nvPr/>
        </p:nvGraphicFramePr>
        <p:xfrm>
          <a:off x="4095736" y="5000636"/>
          <a:ext cx="355602" cy="2857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8" name="Equation" r:id="rId5" imgW="139680" imgH="177480" progId="">
                  <p:embed/>
                </p:oleObj>
              </mc:Choice>
              <mc:Fallback>
                <p:oleObj name="Equation" r:id="rId5" imgW="139680" imgH="177480" progId="">
                  <p:embed/>
                  <p:pic>
                    <p:nvPicPr>
                      <p:cNvPr id="307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5736" y="5000636"/>
                        <a:ext cx="355602" cy="2857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7" name="Object 5"/>
          <p:cNvGraphicFramePr>
            <a:graphicFrameLocks noChangeAspect="1"/>
          </p:cNvGraphicFramePr>
          <p:nvPr/>
        </p:nvGraphicFramePr>
        <p:xfrm>
          <a:off x="7096132" y="5000636"/>
          <a:ext cx="355600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" name="Equation" r:id="rId7" imgW="139680" imgH="177480" progId="">
                  <p:embed/>
                </p:oleObj>
              </mc:Choice>
              <mc:Fallback>
                <p:oleObj name="Equation" r:id="rId7" imgW="139680" imgH="177480" progId="">
                  <p:embed/>
                  <p:pic>
                    <p:nvPicPr>
                      <p:cNvPr id="307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6132" y="5000636"/>
                        <a:ext cx="355600" cy="285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8" name="Object 6"/>
          <p:cNvGraphicFramePr>
            <a:graphicFrameLocks noChangeAspect="1"/>
          </p:cNvGraphicFramePr>
          <p:nvPr/>
        </p:nvGraphicFramePr>
        <p:xfrm>
          <a:off x="5595934" y="4786322"/>
          <a:ext cx="355600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" name="Equation" r:id="rId8" imgW="139680" imgH="177480" progId="">
                  <p:embed/>
                </p:oleObj>
              </mc:Choice>
              <mc:Fallback>
                <p:oleObj name="Equation" r:id="rId8" imgW="139680" imgH="177480" progId="">
                  <p:embed/>
                  <p:pic>
                    <p:nvPicPr>
                      <p:cNvPr id="307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5934" y="4786322"/>
                        <a:ext cx="355600" cy="285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9" name="Object 7"/>
          <p:cNvGraphicFramePr>
            <a:graphicFrameLocks noChangeAspect="1"/>
          </p:cNvGraphicFramePr>
          <p:nvPr/>
        </p:nvGraphicFramePr>
        <p:xfrm>
          <a:off x="6469946" y="5157580"/>
          <a:ext cx="355600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" name="Equation" r:id="rId9" imgW="139680" imgH="177480" progId="">
                  <p:embed/>
                </p:oleObj>
              </mc:Choice>
              <mc:Fallback>
                <p:oleObj name="Equation" r:id="rId9" imgW="139680" imgH="177480" progId="">
                  <p:embed/>
                  <p:pic>
                    <p:nvPicPr>
                      <p:cNvPr id="307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9946" y="5157580"/>
                        <a:ext cx="355600" cy="285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10" cstate="print">
            <a:lum bright="-12000" contrast="19000"/>
          </a:blip>
          <a:srcRect/>
          <a:stretch>
            <a:fillRect/>
          </a:stretch>
        </p:blipFill>
        <p:spPr bwMode="auto">
          <a:xfrm>
            <a:off x="2381224" y="5572141"/>
            <a:ext cx="6072230" cy="4161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3081" name="Object 9"/>
          <p:cNvGraphicFramePr>
            <a:graphicFrameLocks noChangeAspect="1"/>
          </p:cNvGraphicFramePr>
          <p:nvPr/>
        </p:nvGraphicFramePr>
        <p:xfrm>
          <a:off x="7454912" y="5643578"/>
          <a:ext cx="355600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2" name="Equation" r:id="rId11" imgW="139680" imgH="177480" progId="">
                  <p:embed/>
                </p:oleObj>
              </mc:Choice>
              <mc:Fallback>
                <p:oleObj name="Equation" r:id="rId11" imgW="139680" imgH="177480" progId="">
                  <p:embed/>
                  <p:pic>
                    <p:nvPicPr>
                      <p:cNvPr id="308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54912" y="5643578"/>
                        <a:ext cx="355600" cy="285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82" name="Object 10"/>
          <p:cNvGraphicFramePr>
            <a:graphicFrameLocks noChangeAspect="1"/>
          </p:cNvGraphicFramePr>
          <p:nvPr/>
        </p:nvGraphicFramePr>
        <p:xfrm>
          <a:off x="6811970" y="5671714"/>
          <a:ext cx="355600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3" name="Equation" r:id="rId12" imgW="139680" imgH="177480" progId="">
                  <p:embed/>
                </p:oleObj>
              </mc:Choice>
              <mc:Fallback>
                <p:oleObj name="Equation" r:id="rId12" imgW="139680" imgH="177480" progId="">
                  <p:embed/>
                  <p:pic>
                    <p:nvPicPr>
                      <p:cNvPr id="308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1970" y="5671714"/>
                        <a:ext cx="355600" cy="285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>
            <a:lum bright="-15000" contrast="34000"/>
          </a:blip>
          <a:srcRect/>
          <a:stretch>
            <a:fillRect/>
          </a:stretch>
        </p:blipFill>
        <p:spPr bwMode="auto">
          <a:xfrm>
            <a:off x="3095604" y="1714489"/>
            <a:ext cx="4929222" cy="8725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8"/>
          <p:cNvPicPr>
            <a:picLocks noChangeAspect="1" noChangeArrowheads="1"/>
          </p:cNvPicPr>
          <p:nvPr/>
        </p:nvPicPr>
        <p:blipFill>
          <a:blip r:embed="rId4" cstate="print">
            <a:lum bright="-12000" contrast="19000"/>
          </a:blip>
          <a:srcRect/>
          <a:stretch>
            <a:fillRect/>
          </a:stretch>
        </p:blipFill>
        <p:spPr bwMode="auto">
          <a:xfrm>
            <a:off x="2524100" y="642919"/>
            <a:ext cx="6072230" cy="4161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4100" name="Object 4"/>
          <p:cNvGraphicFramePr>
            <a:graphicFrameLocks noChangeAspect="1"/>
          </p:cNvGraphicFramePr>
          <p:nvPr/>
        </p:nvGraphicFramePr>
        <p:xfrm>
          <a:off x="6954846" y="714356"/>
          <a:ext cx="355600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" name="Equation" r:id="rId5" imgW="139680" imgH="177480" progId="">
                  <p:embed/>
                </p:oleObj>
              </mc:Choice>
              <mc:Fallback>
                <p:oleObj name="Equation" r:id="rId5" imgW="139680" imgH="177480" progId="">
                  <p:embed/>
                  <p:pic>
                    <p:nvPicPr>
                      <p:cNvPr id="410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4846" y="714356"/>
                        <a:ext cx="355600" cy="285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1" name="Object 5"/>
          <p:cNvGraphicFramePr>
            <a:graphicFrameLocks noChangeAspect="1"/>
          </p:cNvGraphicFramePr>
          <p:nvPr/>
        </p:nvGraphicFramePr>
        <p:xfrm>
          <a:off x="7597788" y="785796"/>
          <a:ext cx="355600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" name="Equation" r:id="rId7" imgW="139680" imgH="177480" progId="">
                  <p:embed/>
                </p:oleObj>
              </mc:Choice>
              <mc:Fallback>
                <p:oleObj name="Equation" r:id="rId7" imgW="139680" imgH="177480" progId="">
                  <p:embed/>
                  <p:pic>
                    <p:nvPicPr>
                      <p:cNvPr id="410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97788" y="785796"/>
                        <a:ext cx="355600" cy="285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024298" y="1214422"/>
            <a:ext cx="3071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Note that </a:t>
            </a:r>
            <a:r>
              <a:rPr lang="el-GR" dirty="0"/>
              <a:t>α</a:t>
            </a:r>
            <a:r>
              <a:rPr lang="en-AU" dirty="0"/>
              <a:t>=  0, and   </a:t>
            </a:r>
            <a:r>
              <a:rPr lang="el-GR" dirty="0"/>
              <a:t>β</a:t>
            </a:r>
            <a:r>
              <a:rPr lang="en-AU" dirty="0"/>
              <a:t>=1</a:t>
            </a:r>
          </a:p>
        </p:txBody>
      </p:sp>
      <p:sp>
        <p:nvSpPr>
          <p:cNvPr id="8" name="Rectangle 7"/>
          <p:cNvSpPr/>
          <p:nvPr/>
        </p:nvSpPr>
        <p:spPr>
          <a:xfrm>
            <a:off x="2452662" y="2857497"/>
            <a:ext cx="757242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Now since F(t) is a constant vector, we assume a constant</a:t>
            </a:r>
          </a:p>
          <a:p>
            <a:r>
              <a:rPr lang="en-AU" dirty="0"/>
              <a:t>particular solution vector</a:t>
            </a:r>
          </a:p>
        </p:txBody>
      </p:sp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8" cstate="print">
            <a:lum bright="-16000" contrast="29000"/>
          </a:blip>
          <a:srcRect/>
          <a:stretch>
            <a:fillRect/>
          </a:stretch>
        </p:blipFill>
        <p:spPr bwMode="auto">
          <a:xfrm>
            <a:off x="5310182" y="3357563"/>
            <a:ext cx="1214446" cy="6560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Rectangle 9"/>
          <p:cNvSpPr/>
          <p:nvPr/>
        </p:nvSpPr>
        <p:spPr>
          <a:xfrm>
            <a:off x="2381224" y="4286257"/>
            <a:ext cx="735811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Substituting this latter assumption into the original system and equating entries leads to</a:t>
            </a:r>
          </a:p>
        </p:txBody>
      </p:sp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9" cstate="print">
            <a:lum bright="-13000" contrast="27000"/>
          </a:blip>
          <a:srcRect/>
          <a:stretch>
            <a:fillRect/>
          </a:stretch>
        </p:blipFill>
        <p:spPr bwMode="auto">
          <a:xfrm>
            <a:off x="5095868" y="4929199"/>
            <a:ext cx="2071702" cy="802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4" name="Picture 8"/>
          <p:cNvPicPr>
            <a:picLocks noChangeAspect="1" noChangeArrowheads="1"/>
          </p:cNvPicPr>
          <p:nvPr/>
        </p:nvPicPr>
        <p:blipFill>
          <a:blip r:embed="rId10" cstate="print">
            <a:lum bright="-13000" contrast="27000"/>
          </a:blip>
          <a:srcRect/>
          <a:stretch>
            <a:fillRect/>
          </a:stretch>
        </p:blipFill>
        <p:spPr bwMode="auto">
          <a:xfrm>
            <a:off x="2738414" y="5857893"/>
            <a:ext cx="5286412" cy="310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>
            <a:lum bright="-15000" contrast="29000"/>
          </a:blip>
          <a:srcRect/>
          <a:stretch>
            <a:fillRect/>
          </a:stretch>
        </p:blipFill>
        <p:spPr bwMode="auto">
          <a:xfrm>
            <a:off x="2381224" y="642919"/>
            <a:ext cx="2428892" cy="2428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81554" y="428605"/>
            <a:ext cx="1276350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4" cstate="print">
            <a:lum bright="-15000" contrast="29000"/>
          </a:blip>
          <a:srcRect/>
          <a:stretch>
            <a:fillRect/>
          </a:stretch>
        </p:blipFill>
        <p:spPr bwMode="auto">
          <a:xfrm>
            <a:off x="2309787" y="1142984"/>
            <a:ext cx="6048375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5" cstate="print">
            <a:lum bright="-15000" contrast="29000"/>
          </a:blip>
          <a:srcRect/>
          <a:stretch>
            <a:fillRect/>
          </a:stretch>
        </p:blipFill>
        <p:spPr bwMode="auto">
          <a:xfrm>
            <a:off x="2309786" y="1428737"/>
            <a:ext cx="2876550" cy="39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7" name="Picture 7"/>
          <p:cNvPicPr>
            <a:picLocks noChangeAspect="1" noChangeArrowheads="1"/>
          </p:cNvPicPr>
          <p:nvPr/>
        </p:nvPicPr>
        <p:blipFill>
          <a:blip r:embed="rId6" cstate="print">
            <a:lum bright="-15000" contrast="29000"/>
          </a:blip>
          <a:srcRect/>
          <a:stretch>
            <a:fillRect/>
          </a:stretch>
        </p:blipFill>
        <p:spPr bwMode="auto">
          <a:xfrm>
            <a:off x="3024166" y="2000240"/>
            <a:ext cx="5485774" cy="9286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8" name="Picture 8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8167703" y="3071810"/>
            <a:ext cx="409575" cy="209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>
            <a:lum bright="-17000" contrast="41000"/>
          </a:blip>
          <a:srcRect/>
          <a:stretch>
            <a:fillRect/>
          </a:stretch>
        </p:blipFill>
        <p:spPr bwMode="auto">
          <a:xfrm>
            <a:off x="1881158" y="357167"/>
            <a:ext cx="6000792" cy="1474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3" cstate="print">
            <a:lum bright="-17000" contrast="41000"/>
          </a:blip>
          <a:srcRect/>
          <a:stretch>
            <a:fillRect/>
          </a:stretch>
        </p:blipFill>
        <p:spPr bwMode="auto">
          <a:xfrm>
            <a:off x="1881158" y="2071678"/>
            <a:ext cx="8081870" cy="16430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4" cstate="print">
            <a:lum bright="-17000" contrast="41000"/>
          </a:blip>
          <a:srcRect/>
          <a:stretch>
            <a:fillRect/>
          </a:stretch>
        </p:blipFill>
        <p:spPr bwMode="auto">
          <a:xfrm>
            <a:off x="4024299" y="3714753"/>
            <a:ext cx="3429024" cy="7158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50" name="Picture 6"/>
          <p:cNvPicPr>
            <a:picLocks noChangeAspect="1" noChangeArrowheads="1"/>
          </p:cNvPicPr>
          <p:nvPr/>
        </p:nvPicPr>
        <p:blipFill>
          <a:blip r:embed="rId5" cstate="print">
            <a:lum bright="-17000" contrast="41000"/>
          </a:blip>
          <a:srcRect/>
          <a:stretch>
            <a:fillRect/>
          </a:stretch>
        </p:blipFill>
        <p:spPr bwMode="auto">
          <a:xfrm>
            <a:off x="1809720" y="4643446"/>
            <a:ext cx="5702158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51" name="Picture 7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881158" y="5214950"/>
            <a:ext cx="2071702" cy="461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52" name="Picture 8"/>
          <p:cNvPicPr>
            <a:picLocks noChangeAspect="1" noChangeArrowheads="1"/>
          </p:cNvPicPr>
          <p:nvPr/>
        </p:nvPicPr>
        <p:blipFill>
          <a:blip r:embed="rId7" cstate="print">
            <a:lum bright="-17000" contrast="41000"/>
          </a:blip>
          <a:srcRect/>
          <a:stretch>
            <a:fillRect/>
          </a:stretch>
        </p:blipFill>
        <p:spPr bwMode="auto">
          <a:xfrm>
            <a:off x="3952861" y="5357827"/>
            <a:ext cx="5786477" cy="31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53" name="Picture 9"/>
          <p:cNvPicPr>
            <a:picLocks noChangeAspect="1" noChangeArrowheads="1"/>
          </p:cNvPicPr>
          <p:nvPr/>
        </p:nvPicPr>
        <p:blipFill>
          <a:blip r:embed="rId8" cstate="print">
            <a:lum bright="-17000" contrast="41000"/>
          </a:blip>
          <a:srcRect/>
          <a:stretch>
            <a:fillRect/>
          </a:stretch>
        </p:blipFill>
        <p:spPr bwMode="auto">
          <a:xfrm>
            <a:off x="4167174" y="5639010"/>
            <a:ext cx="2000264" cy="8196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>
            <a:lum bright="-14000" contrast="35000"/>
          </a:blip>
          <a:srcRect/>
          <a:stretch>
            <a:fillRect/>
          </a:stretch>
        </p:blipFill>
        <p:spPr bwMode="auto">
          <a:xfrm>
            <a:off x="2166910" y="642918"/>
            <a:ext cx="6786610" cy="20768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 cstate="print">
            <a:lum bright="-14000" contrast="35000"/>
          </a:blip>
          <a:srcRect/>
          <a:stretch>
            <a:fillRect/>
          </a:stretch>
        </p:blipFill>
        <p:spPr bwMode="auto">
          <a:xfrm>
            <a:off x="2381224" y="3429000"/>
            <a:ext cx="7164211" cy="1214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4" cstate="print">
            <a:lum bright="-14000" contrast="35000"/>
          </a:blip>
          <a:srcRect/>
          <a:stretch>
            <a:fillRect/>
          </a:stretch>
        </p:blipFill>
        <p:spPr bwMode="auto">
          <a:xfrm>
            <a:off x="2309787" y="4929198"/>
            <a:ext cx="6895751" cy="357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381224" y="5357826"/>
            <a:ext cx="857256" cy="2927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4" name="Picture 6"/>
          <p:cNvPicPr>
            <a:picLocks noChangeAspect="1" noChangeArrowheads="1"/>
          </p:cNvPicPr>
          <p:nvPr/>
        </p:nvPicPr>
        <p:blipFill>
          <a:blip r:embed="rId6" cstate="print">
            <a:lum bright="-14000" contrast="35000"/>
          </a:blip>
          <a:srcRect/>
          <a:stretch>
            <a:fillRect/>
          </a:stretch>
        </p:blipFill>
        <p:spPr bwMode="auto">
          <a:xfrm>
            <a:off x="3309919" y="5429264"/>
            <a:ext cx="4314825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5" name="Picture 7"/>
          <p:cNvPicPr>
            <a:picLocks noChangeAspect="1" noChangeArrowheads="1"/>
          </p:cNvPicPr>
          <p:nvPr/>
        </p:nvPicPr>
        <p:blipFill>
          <a:blip r:embed="rId7" cstate="print">
            <a:lum bright="-14000" contrast="35000"/>
          </a:blip>
          <a:srcRect/>
          <a:stretch>
            <a:fillRect/>
          </a:stretch>
        </p:blipFill>
        <p:spPr bwMode="auto">
          <a:xfrm>
            <a:off x="2452663" y="5786455"/>
            <a:ext cx="2028825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28806" y="357166"/>
            <a:ext cx="135255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 cstate="print">
            <a:lum bright="-15000" contrast="32000"/>
          </a:blip>
          <a:srcRect/>
          <a:stretch>
            <a:fillRect/>
          </a:stretch>
        </p:blipFill>
        <p:spPr bwMode="auto">
          <a:xfrm>
            <a:off x="3374862" y="357166"/>
            <a:ext cx="2435386" cy="3998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4" cstate="print">
            <a:lum bright="-15000" contrast="32000"/>
          </a:blip>
          <a:srcRect/>
          <a:stretch>
            <a:fillRect/>
          </a:stretch>
        </p:blipFill>
        <p:spPr bwMode="auto">
          <a:xfrm>
            <a:off x="2024034" y="1071547"/>
            <a:ext cx="4800600" cy="25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5" cstate="print">
            <a:lum bright="-15000" contrast="32000"/>
          </a:blip>
          <a:srcRect/>
          <a:stretch>
            <a:fillRect/>
          </a:stretch>
        </p:blipFill>
        <p:spPr bwMode="auto">
          <a:xfrm>
            <a:off x="4095736" y="1428737"/>
            <a:ext cx="2357454" cy="11043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8" name="Picture 6"/>
          <p:cNvPicPr>
            <a:picLocks noChangeAspect="1" noChangeArrowheads="1"/>
          </p:cNvPicPr>
          <p:nvPr/>
        </p:nvPicPr>
        <p:blipFill>
          <a:blip r:embed="rId6" cstate="print">
            <a:lum bright="-15000" contrast="32000"/>
          </a:blip>
          <a:srcRect/>
          <a:stretch>
            <a:fillRect/>
          </a:stretch>
        </p:blipFill>
        <p:spPr bwMode="auto">
          <a:xfrm>
            <a:off x="2166910" y="2857496"/>
            <a:ext cx="7143800" cy="18516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9" name="Picture 7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9096397" y="4714884"/>
            <a:ext cx="4667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09918" y="1271772"/>
            <a:ext cx="6215106" cy="12999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38348" y="2643182"/>
            <a:ext cx="6315119" cy="5000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9460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452662" y="3214687"/>
            <a:ext cx="3000396" cy="400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9461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238612" y="4000504"/>
            <a:ext cx="4357718" cy="9793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9462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452663" y="5143512"/>
            <a:ext cx="661463" cy="357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9463" name="Picture 7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809984" y="5500702"/>
            <a:ext cx="5072098" cy="11229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9464" name="Picture 8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2452662" y="142852"/>
            <a:ext cx="3535658" cy="1214422"/>
          </a:xfrm>
          <a:prstGeom prst="rect">
            <a:avLst/>
          </a:prstGeom>
          <a:noFill/>
          <a:ln w="15875">
            <a:solidFill>
              <a:srgbClr val="FF0000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95472" y="500042"/>
            <a:ext cx="952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38612" y="571480"/>
            <a:ext cx="1214446" cy="1034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484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38348" y="1643050"/>
            <a:ext cx="2000264" cy="290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485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738678" y="1857364"/>
            <a:ext cx="1071570" cy="139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486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809853" y="3500438"/>
            <a:ext cx="5643602" cy="3248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487" name="Picture 7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95604" y="4143380"/>
            <a:ext cx="6416509" cy="10715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2" cstate="print">
            <a:lum bright="-15000" contrast="26000"/>
          </a:blip>
          <a:srcRect/>
          <a:stretch>
            <a:fillRect/>
          </a:stretch>
        </p:blipFill>
        <p:spPr bwMode="auto">
          <a:xfrm>
            <a:off x="2381224" y="357167"/>
            <a:ext cx="6286544" cy="21410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1508" name="Picture 4"/>
          <p:cNvPicPr>
            <a:picLocks noChangeAspect="1" noChangeArrowheads="1"/>
          </p:cNvPicPr>
          <p:nvPr/>
        </p:nvPicPr>
        <p:blipFill>
          <a:blip r:embed="rId3" cstate="print">
            <a:lum bright="-21000" contrast="38000"/>
          </a:blip>
          <a:srcRect/>
          <a:stretch>
            <a:fillRect/>
          </a:stretch>
        </p:blipFill>
        <p:spPr bwMode="auto">
          <a:xfrm>
            <a:off x="5129214" y="2781300"/>
            <a:ext cx="2609861" cy="17484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1510" name="Picture 6"/>
          <p:cNvPicPr>
            <a:picLocks noChangeAspect="1" noChangeArrowheads="1"/>
          </p:cNvPicPr>
          <p:nvPr/>
        </p:nvPicPr>
        <p:blipFill>
          <a:blip r:embed="rId4" cstate="print">
            <a:lum bright="-21000" contrast="38000"/>
          </a:blip>
          <a:srcRect/>
          <a:stretch>
            <a:fillRect/>
          </a:stretch>
        </p:blipFill>
        <p:spPr bwMode="auto">
          <a:xfrm>
            <a:off x="2738414" y="4500570"/>
            <a:ext cx="5572164" cy="10210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1511" name="Picture 7"/>
          <p:cNvPicPr>
            <a:picLocks noChangeAspect="1" noChangeArrowheads="1"/>
          </p:cNvPicPr>
          <p:nvPr/>
        </p:nvPicPr>
        <p:blipFill>
          <a:blip r:embed="rId5" cstate="print">
            <a:lum bright="-21000" contrast="38000"/>
          </a:blip>
          <a:srcRect/>
          <a:stretch>
            <a:fillRect/>
          </a:stretch>
        </p:blipFill>
        <p:spPr bwMode="auto">
          <a:xfrm>
            <a:off x="2881290" y="5929331"/>
            <a:ext cx="3413148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 cstate="print">
            <a:lum bright="-20000" contrast="27000"/>
          </a:blip>
          <a:srcRect/>
          <a:stretch>
            <a:fillRect/>
          </a:stretch>
        </p:blipFill>
        <p:spPr bwMode="auto">
          <a:xfrm>
            <a:off x="3809984" y="3714752"/>
            <a:ext cx="4099306" cy="1000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3" cstate="print">
            <a:lum bright="-20000" contrast="27000"/>
          </a:blip>
          <a:srcRect/>
          <a:stretch>
            <a:fillRect/>
          </a:stretch>
        </p:blipFill>
        <p:spPr bwMode="auto">
          <a:xfrm>
            <a:off x="3381356" y="4714884"/>
            <a:ext cx="4826034" cy="571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2532" name="Picture 4"/>
          <p:cNvPicPr>
            <a:picLocks noChangeAspect="1" noChangeArrowheads="1"/>
          </p:cNvPicPr>
          <p:nvPr/>
        </p:nvPicPr>
        <p:blipFill>
          <a:blip r:embed="rId4" cstate="print">
            <a:lum bright="-20000" contrast="27000"/>
          </a:blip>
          <a:srcRect/>
          <a:stretch>
            <a:fillRect/>
          </a:stretch>
        </p:blipFill>
        <p:spPr bwMode="auto">
          <a:xfrm>
            <a:off x="3309918" y="5500702"/>
            <a:ext cx="5819220" cy="714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024034" y="642918"/>
            <a:ext cx="6715172" cy="3110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FE3CBE4-C54A-4867-B692-851091D2C2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496" y="566635"/>
            <a:ext cx="3178559" cy="367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0143425-F32F-4435-B41B-F277492554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5836" y="1682998"/>
            <a:ext cx="8664959" cy="3190000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94331E-0DBB-44C9-A808-8D37522FC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85531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860BA36-8847-42A1-89A7-D00F55D226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0265" y="2491530"/>
            <a:ext cx="8231833" cy="413611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21042A7-CD52-4ACD-B1A3-0A8BEF4298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0264" y="478864"/>
            <a:ext cx="8231833" cy="18400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7054C6-1228-46E4-88B4-5E063185B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14055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9DDFD5B-6987-4ED6-B480-E4EB6B7D7D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4822" y="3704510"/>
            <a:ext cx="5925000" cy="1110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EA03033-4248-42C8-AE47-8D9DDCD32F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4822" y="1299876"/>
            <a:ext cx="3800378" cy="20100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8E9DB3-817C-4CA8-8B01-2B8FD1CC8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93483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EDB1F2-892A-4DEE-A076-B24C2CA5FA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193" y="684217"/>
            <a:ext cx="7500703" cy="457329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D0A36B-87C3-46C9-8FE5-D27EAB140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9639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84A44A9-6274-4CF9-B122-83A00E375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5085" y="409575"/>
            <a:ext cx="6656237" cy="5809867"/>
          </a:xfrm>
          <a:prstGeom prst="rect">
            <a:avLst/>
          </a:prstGeom>
        </p:spPr>
      </p:pic>
      <p:sp>
        <p:nvSpPr>
          <p:cNvPr id="4" name="Arrow: Left 3">
            <a:extLst>
              <a:ext uri="{FF2B5EF4-FFF2-40B4-BE49-F238E27FC236}">
                <a16:creationId xmlns:a16="http://schemas.microsoft.com/office/drawing/2014/main" id="{B0297071-99DD-4955-B94D-34B89D5E7A04}"/>
              </a:ext>
            </a:extLst>
          </p:cNvPr>
          <p:cNvSpPr/>
          <p:nvPr/>
        </p:nvSpPr>
        <p:spPr>
          <a:xfrm>
            <a:off x="8372213" y="3498209"/>
            <a:ext cx="679508" cy="46139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Left Brace 4">
            <a:extLst>
              <a:ext uri="{FF2B5EF4-FFF2-40B4-BE49-F238E27FC236}">
                <a16:creationId xmlns:a16="http://schemas.microsoft.com/office/drawing/2014/main" id="{B88E9257-2A7E-41CF-B924-691D025B67C7}"/>
              </a:ext>
            </a:extLst>
          </p:cNvPr>
          <p:cNvSpPr/>
          <p:nvPr/>
        </p:nvSpPr>
        <p:spPr>
          <a:xfrm rot="16200000">
            <a:off x="6109873" y="5772784"/>
            <a:ext cx="280600" cy="1054998"/>
          </a:xfrm>
          <a:prstGeom prst="leftBrace">
            <a:avLst>
              <a:gd name="adj1" fmla="val 8333"/>
              <a:gd name="adj2" fmla="val 53599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966A7F72-2A78-47CD-9A47-E1544CC6990D}"/>
              </a:ext>
            </a:extLst>
          </p:cNvPr>
          <p:cNvSpPr/>
          <p:nvPr/>
        </p:nvSpPr>
        <p:spPr>
          <a:xfrm rot="16200000">
            <a:off x="5004698" y="5984805"/>
            <a:ext cx="280600" cy="538663"/>
          </a:xfrm>
          <a:prstGeom prst="leftBrace">
            <a:avLst>
              <a:gd name="adj1" fmla="val 8333"/>
              <a:gd name="adj2" fmla="val 53599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3199CB-BC41-4B62-BE33-574B4240AF49}"/>
              </a:ext>
            </a:extLst>
          </p:cNvPr>
          <p:cNvSpPr txBox="1"/>
          <p:nvPr/>
        </p:nvSpPr>
        <p:spPr>
          <a:xfrm>
            <a:off x="5144998" y="6238442"/>
            <a:ext cx="3866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err="1"/>
              <a:t>Xc</a:t>
            </a:r>
            <a:endParaRPr lang="en-US" sz="12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80A103-4B95-4F7D-8BF0-FF33BBEB6A86}"/>
              </a:ext>
            </a:extLst>
          </p:cNvPr>
          <p:cNvSpPr txBox="1"/>
          <p:nvPr/>
        </p:nvSpPr>
        <p:spPr>
          <a:xfrm>
            <a:off x="6287231" y="6300282"/>
            <a:ext cx="8304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err="1"/>
              <a:t>Xp</a:t>
            </a:r>
            <a:endParaRPr lang="en-US" sz="1200" b="1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469AA-417E-43EB-A1D5-A3C3B9B80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7586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B184A74-189D-4F65-AA7A-4EE9A62007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9596" y="563865"/>
            <a:ext cx="4581931" cy="141700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F0C8948-0C60-46DE-BC33-01C1AD45852E}"/>
              </a:ext>
            </a:extLst>
          </p:cNvPr>
          <p:cNvSpPr txBox="1"/>
          <p:nvPr/>
        </p:nvSpPr>
        <p:spPr>
          <a:xfrm>
            <a:off x="2112485" y="2046914"/>
            <a:ext cx="1119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Solution: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51E4DD-8FB3-46FF-A45D-EB203391935A}"/>
              </a:ext>
            </a:extLst>
          </p:cNvPr>
          <p:cNvSpPr txBox="1"/>
          <p:nvPr/>
        </p:nvSpPr>
        <p:spPr>
          <a:xfrm>
            <a:off x="3239320" y="2093080"/>
            <a:ext cx="44165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First we solve the associated linear homogeneous system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EE403B-5A8F-43FB-A032-5FEE2D382F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0561" y="2416246"/>
            <a:ext cx="1991815" cy="75479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AE2EB45-91AB-4FE7-96DE-EEE619780D32}"/>
              </a:ext>
            </a:extLst>
          </p:cNvPr>
          <p:cNvSpPr txBox="1"/>
          <p:nvPr/>
        </p:nvSpPr>
        <p:spPr>
          <a:xfrm>
            <a:off x="2416029" y="3171039"/>
            <a:ext cx="15648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Find eigenvalues: 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2ACB09A-B477-4634-AF46-CC8DC07AA9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6527" y="3318141"/>
            <a:ext cx="2175000" cy="39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040B6305-BBA3-43D8-96AD-720DBCE39BF6}"/>
                  </a:ext>
                </a:extLst>
              </p:cNvPr>
              <p:cNvSpPr/>
              <p:nvPr/>
            </p:nvSpPr>
            <p:spPr>
              <a:xfrm>
                <a:off x="2485937" y="3748434"/>
                <a:ext cx="7035568" cy="2769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200" dirty="0">
                    <a:latin typeface="+mj-lt"/>
                  </a:rPr>
                  <a:t>Find eigenvectors corresponding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=−2 </m:t>
                    </m:r>
                    <m:r>
                      <a:rPr lang="en-US" sz="12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200" b="0" i="0" smtClean="0">
                        <a:latin typeface="Cambria Math" panose="02040503050406030204" pitchFamily="18" charset="0"/>
                      </a:rPr>
                      <m:t>and</m:t>
                    </m:r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200" i="1">
                        <a:latin typeface="Cambria Math" panose="02040503050406030204" pitchFamily="18" charset="0"/>
                      </a:rPr>
                      <m:t>=−2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sz="1200" b="0" i="0" smtClean="0">
                        <a:latin typeface="Cambria Math" panose="02040503050406030204" pitchFamily="18" charset="0"/>
                      </a:rPr>
                      <m:t>respectively</m:t>
                    </m:r>
                  </m:oMath>
                </a14:m>
                <a:endParaRPr lang="en-US" sz="1200" dirty="0">
                  <a:latin typeface="+mj-lt"/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040B6305-BBA3-43D8-96AD-720DBCE39B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5937" y="3748434"/>
                <a:ext cx="7035568" cy="276999"/>
              </a:xfrm>
              <a:prstGeom prst="rect">
                <a:avLst/>
              </a:prstGeom>
              <a:blipFill>
                <a:blip r:embed="rId5"/>
                <a:stretch>
                  <a:fillRect l="-87" t="-2222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F3939CF8-C5FC-4D9F-AC0E-745B07CA2D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72094" y="4099906"/>
            <a:ext cx="993896" cy="39093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1B2206A-1162-4671-BA70-CAF66500B8D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75047" y="4081438"/>
            <a:ext cx="811480" cy="41926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C1F1D04-3B3C-4689-88D0-23987DBD9F2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40281" y="4947824"/>
            <a:ext cx="5337649" cy="690120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51FBDF91-3632-45BE-8BF6-66B8094BFB03}"/>
              </a:ext>
            </a:extLst>
          </p:cNvPr>
          <p:cNvGrpSpPr/>
          <p:nvPr/>
        </p:nvGrpSpPr>
        <p:grpSpPr>
          <a:xfrm>
            <a:off x="2640281" y="4546409"/>
            <a:ext cx="4744884" cy="341455"/>
            <a:chOff x="2640281" y="4546409"/>
            <a:chExt cx="4744884" cy="341455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CCBB2E02-BBF4-4385-AF8D-37EF0D33A2C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640281" y="4546409"/>
              <a:ext cx="3512191" cy="339107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C74CDD6-196C-4119-8811-CD5F674BB620}"/>
                </a:ext>
              </a:extLst>
            </p:cNvPr>
            <p:cNvSpPr txBox="1"/>
            <p:nvPr/>
          </p:nvSpPr>
          <p:spPr>
            <a:xfrm>
              <a:off x="6059704" y="4610865"/>
              <a:ext cx="132546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(2) is 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30043437-524B-45E8-95F3-2DBE931D251C}"/>
              </a:ext>
            </a:extLst>
          </p:cNvPr>
          <p:cNvSpPr txBox="1"/>
          <p:nvPr/>
        </p:nvSpPr>
        <p:spPr>
          <a:xfrm>
            <a:off x="7357145" y="989347"/>
            <a:ext cx="7801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(1)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684EE4B-8A2C-4207-8669-AE73E6F1A8CF}"/>
              </a:ext>
            </a:extLst>
          </p:cNvPr>
          <p:cNvSpPr txBox="1"/>
          <p:nvPr/>
        </p:nvSpPr>
        <p:spPr>
          <a:xfrm>
            <a:off x="7429850" y="2670475"/>
            <a:ext cx="7801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(2)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F8D8611-D29F-4E55-8552-78084EA500E5}"/>
              </a:ext>
            </a:extLst>
          </p:cNvPr>
          <p:cNvSpPr txBox="1"/>
          <p:nvPr/>
        </p:nvSpPr>
        <p:spPr>
          <a:xfrm>
            <a:off x="1652632" y="6040299"/>
            <a:ext cx="24449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Hence, Fundamental matrix is 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316F0A5-4400-4358-ACCE-55F8B898033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17407" y="5828798"/>
            <a:ext cx="2175000" cy="700000"/>
          </a:xfrm>
          <a:prstGeom prst="rect">
            <a:avLst/>
          </a:prstGeom>
          <a:effectLst>
            <a:outerShdw blurRad="50800" dist="38100" dir="5400000" algn="t" rotWithShape="0">
              <a:schemeClr val="accent1">
                <a:alpha val="40000"/>
              </a:schemeClr>
            </a:outerShdw>
          </a:effectLst>
        </p:spPr>
      </p:pic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747586D0-2D63-42F5-8940-1EC4FF992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53824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B00A5F0-066D-429B-829E-D3857B9421DB}"/>
              </a:ext>
            </a:extLst>
          </p:cNvPr>
          <p:cNvSpPr/>
          <p:nvPr/>
        </p:nvSpPr>
        <p:spPr>
          <a:xfrm>
            <a:off x="9683583" y="653508"/>
            <a:ext cx="2343576" cy="1676805"/>
          </a:xfrm>
          <a:prstGeom prst="roundRect">
            <a:avLst/>
          </a:prstGeom>
          <a:solidFill>
            <a:schemeClr val="bg2">
              <a:lumMod val="50000"/>
              <a:alpha val="32000"/>
            </a:schemeClr>
          </a:solidFill>
          <a:effectLst>
            <a:outerShdw blurRad="50800" dist="50800" dir="5400000" algn="ctr" rotWithShape="0">
              <a:schemeClr val="accent3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63ED9BD-F34B-4543-B24A-B992B4E6DA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5393" y="595652"/>
            <a:ext cx="2140530" cy="107489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7A7BF9F-E7D1-4A64-9153-17886F39C2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1192" y="743614"/>
            <a:ext cx="2175000" cy="700000"/>
          </a:xfrm>
          <a:prstGeom prst="rect">
            <a:avLst/>
          </a:prstGeom>
          <a:effectLst>
            <a:outerShdw blurRad="50800" dist="38100" dir="5400000" algn="t" rotWithShape="0">
              <a:schemeClr val="accent1">
                <a:alpha val="40000"/>
              </a:schemeClr>
            </a:outerShdw>
          </a:effectLst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3FFDA7B8-976E-4487-908C-6DEA038BF1C7}"/>
              </a:ext>
            </a:extLst>
          </p:cNvPr>
          <p:cNvGrpSpPr/>
          <p:nvPr/>
        </p:nvGrpSpPr>
        <p:grpSpPr>
          <a:xfrm>
            <a:off x="3524240" y="1708900"/>
            <a:ext cx="3458916" cy="700000"/>
            <a:chOff x="3031386" y="2865443"/>
            <a:chExt cx="3458916" cy="7000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9AA1A22-2091-4B90-881F-229FD581E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031386" y="3061698"/>
              <a:ext cx="1372662" cy="367302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A5F9678-BE21-49A5-A79F-2906AF7F964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413379" y="2865443"/>
              <a:ext cx="2076923" cy="700000"/>
            </a:xfrm>
            <a:prstGeom prst="rect">
              <a:avLst/>
            </a:prstGeom>
          </p:spPr>
        </p:pic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5F63B8B0-CD88-459F-AB71-9482B43B3F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6233" y="2408900"/>
            <a:ext cx="4777350" cy="87641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BBB386B-A4EB-4977-8D15-94AF55286F2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1052" y="3239595"/>
            <a:ext cx="4124207" cy="98259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ADD3268-B941-4394-84B4-5FBE4A66A73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21052" y="4284096"/>
            <a:ext cx="4261660" cy="1978252"/>
          </a:xfrm>
          <a:prstGeom prst="rect">
            <a:avLst/>
          </a:prstGeom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4FE56BA-141C-47EF-B99A-F3712F512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1026" name="Picture 2" descr="Matrix A is a 2 by 2 matrix with entries a and b on its first row, and entries c and d on its second row. We can write this in matrix form as A = [a,b;c,d].">
            <a:extLst>
              <a:ext uri="{FF2B5EF4-FFF2-40B4-BE49-F238E27FC236}">
                <a16:creationId xmlns:a16="http://schemas.microsoft.com/office/drawing/2014/main" id="{C3C73942-4D2B-4A0C-99CE-56FFFF13DE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9641" y="989713"/>
            <a:ext cx="819150" cy="49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he formula to find the inverse of an invertible matrix A involves by first calculating the determinant of matrix A and rearranging matrix A from [a,b;c,d] to [d,-b;-c,a]. Now use the scalar value of 1 over determinant of matrix to multiply the rearranged elements of matrix A which is [d,-b;-c,a]. In compact form, the inverse of matrix A or A^-1 = (1/det A) [d,-b;-c,a].">
            <a:extLst>
              <a:ext uri="{FF2B5EF4-FFF2-40B4-BE49-F238E27FC236}">
                <a16:creationId xmlns:a16="http://schemas.microsoft.com/office/drawing/2014/main" id="{C0131EE7-AEAF-4F6C-A71B-A339DF5F60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7773" y="1563600"/>
            <a:ext cx="1543050" cy="49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7A4EAA6-5DC6-40F5-8A19-CBF73A8E89D0}"/>
              </a:ext>
            </a:extLst>
          </p:cNvPr>
          <p:cNvSpPr txBox="1"/>
          <p:nvPr/>
        </p:nvSpPr>
        <p:spPr>
          <a:xfrm>
            <a:off x="10017772" y="743614"/>
            <a:ext cx="16424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</a:rPr>
              <a:t>Notes:</a:t>
            </a:r>
          </a:p>
        </p:txBody>
      </p:sp>
    </p:spTree>
    <p:extLst>
      <p:ext uri="{BB962C8B-B14F-4D97-AF65-F5344CB8AC3E}">
        <p14:creationId xmlns:p14="http://schemas.microsoft.com/office/powerpoint/2010/main" val="23466614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2D4DF8E-3094-44BE-8ADD-2F582F2D6C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750" y="1860106"/>
            <a:ext cx="6703895" cy="225569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084B4FE-22B0-44EC-B446-1C4A8E0A70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750" y="921934"/>
            <a:ext cx="3410189" cy="71624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DB4762-D939-4A30-B09D-F60250C85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88354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16F380-A192-42DD-901D-909C73E38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256E039-8C23-4DD1-A461-44FD5F0FC936}"/>
              </a:ext>
            </a:extLst>
          </p:cNvPr>
          <p:cNvSpPr/>
          <p:nvPr/>
        </p:nvSpPr>
        <p:spPr>
          <a:xfrm>
            <a:off x="1922106" y="1726163"/>
            <a:ext cx="1073019" cy="6624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Hints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27B7D6-7930-4E5A-B038-6F2FD6C5DA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5585" y="1152907"/>
            <a:ext cx="5515987" cy="487991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2E80FA3-5A5B-46AA-AB5C-CDA3964E032E}"/>
              </a:ext>
            </a:extLst>
          </p:cNvPr>
          <p:cNvSpPr txBox="1"/>
          <p:nvPr/>
        </p:nvSpPr>
        <p:spPr>
          <a:xfrm>
            <a:off x="1651517" y="311867"/>
            <a:ext cx="38815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Exercise: 8.3</a:t>
            </a:r>
            <a:r>
              <a:rPr lang="en-US" dirty="0"/>
              <a:t> </a:t>
            </a:r>
          </a:p>
          <a:p>
            <a:r>
              <a:rPr lang="en-US" dirty="0"/>
              <a:t>Prob#15</a:t>
            </a:r>
          </a:p>
        </p:txBody>
      </p:sp>
    </p:spTree>
    <p:extLst>
      <p:ext uri="{BB962C8B-B14F-4D97-AF65-F5344CB8AC3E}">
        <p14:creationId xmlns:p14="http://schemas.microsoft.com/office/powerpoint/2010/main" val="15391277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F4A0AC2-ADF8-45AA-B8F0-ED0CD35C7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23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89395DB-D8D8-44B0-9C92-E4120835A4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3537" y="970344"/>
            <a:ext cx="3425008" cy="101297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894F878-DCC9-4E02-B2C3-9941E9026E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5917" y="2276669"/>
            <a:ext cx="7365405" cy="41416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9C42594-A27B-412E-8D6F-169BBFB7DF13}"/>
              </a:ext>
            </a:extLst>
          </p:cNvPr>
          <p:cNvSpPr txBox="1"/>
          <p:nvPr/>
        </p:nvSpPr>
        <p:spPr>
          <a:xfrm>
            <a:off x="1950097" y="1036012"/>
            <a:ext cx="3881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Prob#18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F322A00-7C63-4C49-A8BB-A3C3936FF0A9}"/>
              </a:ext>
            </a:extLst>
          </p:cNvPr>
          <p:cNvSpPr/>
          <p:nvPr/>
        </p:nvSpPr>
        <p:spPr>
          <a:xfrm>
            <a:off x="1492898" y="1726163"/>
            <a:ext cx="1073019" cy="6624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Hints</a:t>
            </a:r>
          </a:p>
        </p:txBody>
      </p:sp>
    </p:spTree>
    <p:extLst>
      <p:ext uri="{BB962C8B-B14F-4D97-AF65-F5344CB8AC3E}">
        <p14:creationId xmlns:p14="http://schemas.microsoft.com/office/powerpoint/2010/main" val="2788251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99274B4-DE20-4CA1-B819-435385537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24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72E3409-A93D-43AF-B2EF-A267575226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5309" y="653142"/>
            <a:ext cx="6806044" cy="407747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0C31070-9E1E-4332-8839-664859EB80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0558" y="4800589"/>
            <a:ext cx="5310448" cy="140426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B0E9046-8C96-4A84-8A6A-23D1C6488EAB}"/>
              </a:ext>
            </a:extLst>
          </p:cNvPr>
          <p:cNvSpPr txBox="1"/>
          <p:nvPr/>
        </p:nvSpPr>
        <p:spPr>
          <a:xfrm>
            <a:off x="1623525" y="970344"/>
            <a:ext cx="1287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Prob#24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C9D35FA-8DEF-4E31-84CC-7BD2017A1C6F}"/>
              </a:ext>
            </a:extLst>
          </p:cNvPr>
          <p:cNvSpPr/>
          <p:nvPr/>
        </p:nvSpPr>
        <p:spPr>
          <a:xfrm>
            <a:off x="1492898" y="1726163"/>
            <a:ext cx="1073019" cy="6624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Hints</a:t>
            </a:r>
          </a:p>
        </p:txBody>
      </p:sp>
    </p:spTree>
    <p:extLst>
      <p:ext uri="{BB962C8B-B14F-4D97-AF65-F5344CB8AC3E}">
        <p14:creationId xmlns:p14="http://schemas.microsoft.com/office/powerpoint/2010/main" val="25519432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F9B88EF-A800-4621-8047-528C3CD2C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25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335B5BE-2721-457E-BA15-47B413BE51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8102" y="679257"/>
            <a:ext cx="3328886" cy="11096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AF07129-F81E-4A71-8B0E-0EA46DF098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3199" y="2552637"/>
            <a:ext cx="4013625" cy="11829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B6E9E3D-F38F-4FF6-B3C0-59189F58D5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3199" y="3834676"/>
            <a:ext cx="2241486" cy="132935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8915469-386E-4C34-B2D9-D9E7462D10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7109" y="3834676"/>
            <a:ext cx="3602045" cy="133942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A100257-9010-4EF2-9AF4-4A509FF6FA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56545" y="5263103"/>
            <a:ext cx="6938865" cy="1400427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30E4B846-425F-4712-8DD4-55E31A712EAD}"/>
              </a:ext>
            </a:extLst>
          </p:cNvPr>
          <p:cNvSpPr/>
          <p:nvPr/>
        </p:nvSpPr>
        <p:spPr>
          <a:xfrm>
            <a:off x="1492898" y="1726163"/>
            <a:ext cx="1073019" cy="6624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Hints</a:t>
            </a:r>
          </a:p>
        </p:txBody>
      </p:sp>
    </p:spTree>
    <p:extLst>
      <p:ext uri="{BB962C8B-B14F-4D97-AF65-F5344CB8AC3E}">
        <p14:creationId xmlns:p14="http://schemas.microsoft.com/office/powerpoint/2010/main" val="23999489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754970-1C38-4BC2-8153-C5F4DC8D8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26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8CF611-7976-4971-B740-52C8B759ED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7803" y="1152907"/>
            <a:ext cx="5390479" cy="1151754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21EC911E-BDD4-4B46-A894-FAF4388FD2F7}"/>
              </a:ext>
            </a:extLst>
          </p:cNvPr>
          <p:cNvGrpSpPr/>
          <p:nvPr/>
        </p:nvGrpSpPr>
        <p:grpSpPr>
          <a:xfrm>
            <a:off x="1591800" y="2431297"/>
            <a:ext cx="9171952" cy="997703"/>
            <a:chOff x="2319588" y="2926840"/>
            <a:chExt cx="9171952" cy="99770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A6B82EF-F819-4D51-AC2B-B9A80A9DD23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64374" y="2933454"/>
              <a:ext cx="3344926" cy="991089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1D86223A-9B26-4BFB-AD99-486CAAFE969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342795" y="2926840"/>
              <a:ext cx="4148745" cy="991089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54A0223-F7A3-4FA8-9B03-8AA0BE57855A}"/>
                </a:ext>
              </a:extLst>
            </p:cNvPr>
            <p:cNvSpPr txBox="1"/>
            <p:nvPr/>
          </p:nvSpPr>
          <p:spPr>
            <a:xfrm>
              <a:off x="2319588" y="3244332"/>
              <a:ext cx="13692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X=</a:t>
              </a:r>
              <a:r>
                <a:rPr lang="en-US" b="1" dirty="0" err="1"/>
                <a:t>Xc+Xp</a:t>
              </a:r>
              <a:r>
                <a:rPr lang="en-US" b="1" dirty="0"/>
                <a:t>=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48B636D-DB0F-474E-818A-156E6F563176}"/>
                </a:ext>
              </a:extLst>
            </p:cNvPr>
            <p:cNvSpPr txBox="1"/>
            <p:nvPr/>
          </p:nvSpPr>
          <p:spPr>
            <a:xfrm>
              <a:off x="7109300" y="3244332"/>
              <a:ext cx="1965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+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908123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B3D5375-9783-42AD-BE91-D6451E1E4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27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F64A3F6-45C6-4678-82B3-86DE607781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3036" y="514599"/>
            <a:ext cx="6746033" cy="6006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6112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CF9FA5-3731-430A-BEAA-5086360F6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28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DF6A69-133C-4BA7-B43F-989C1C748C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7239" y="277162"/>
            <a:ext cx="7952295" cy="6303676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EA3F46CA-81CB-4464-BCE5-FC1758CE32C0}"/>
              </a:ext>
            </a:extLst>
          </p:cNvPr>
          <p:cNvSpPr/>
          <p:nvPr/>
        </p:nvSpPr>
        <p:spPr>
          <a:xfrm>
            <a:off x="2071396" y="970344"/>
            <a:ext cx="1073019" cy="6624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Hints</a:t>
            </a:r>
          </a:p>
        </p:txBody>
      </p:sp>
    </p:spTree>
    <p:extLst>
      <p:ext uri="{BB962C8B-B14F-4D97-AF65-F5344CB8AC3E}">
        <p14:creationId xmlns:p14="http://schemas.microsoft.com/office/powerpoint/2010/main" val="10192710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09C4E3D-B4D5-412F-8461-A1E120F9B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12E90B-0B67-4019-BD95-C1B6AD769374}"/>
              </a:ext>
            </a:extLst>
          </p:cNvPr>
          <p:cNvSpPr txBox="1"/>
          <p:nvPr/>
        </p:nvSpPr>
        <p:spPr>
          <a:xfrm>
            <a:off x="3741576" y="787782"/>
            <a:ext cx="37705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Problems for Assignments:</a:t>
            </a:r>
          </a:p>
          <a:p>
            <a:r>
              <a:rPr lang="en-US" dirty="0"/>
              <a:t>Exercise 8.3, Problem# 24, 30, 33</a:t>
            </a:r>
          </a:p>
        </p:txBody>
      </p:sp>
    </p:spTree>
    <p:extLst>
      <p:ext uri="{BB962C8B-B14F-4D97-AF65-F5344CB8AC3E}">
        <p14:creationId xmlns:p14="http://schemas.microsoft.com/office/powerpoint/2010/main" val="2225403400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141</TotalTime>
  <Words>232</Words>
  <Application>Microsoft Office PowerPoint</Application>
  <PresentationFormat>Widescreen</PresentationFormat>
  <Paragraphs>64</Paragraphs>
  <Slides>29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8" baseType="lpstr">
      <vt:lpstr>Arial</vt:lpstr>
      <vt:lpstr>Berlin Sans FB</vt:lpstr>
      <vt:lpstr>Calibri</vt:lpstr>
      <vt:lpstr>Cambria Math</vt:lpstr>
      <vt:lpstr>Century Gothic</vt:lpstr>
      <vt:lpstr>Wingdings</vt:lpstr>
      <vt:lpstr>Wingdings 3</vt:lpstr>
      <vt:lpstr>Wisp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NSU</dc:creator>
  <cp:lastModifiedBy>NSU</cp:lastModifiedBy>
  <cp:revision>13</cp:revision>
  <dcterms:created xsi:type="dcterms:W3CDTF">2023-08-16T10:27:27Z</dcterms:created>
  <dcterms:modified xsi:type="dcterms:W3CDTF">2023-10-08T03:19:06Z</dcterms:modified>
</cp:coreProperties>
</file>