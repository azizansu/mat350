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5" r:id="rId19"/>
    <p:sldId id="274" r:id="rId20"/>
    <p:sldId id="273" r:id="rId21"/>
    <p:sldId id="276" r:id="rId22"/>
    <p:sldId id="278" r:id="rId23"/>
    <p:sldId id="279" r:id="rId24"/>
    <p:sldId id="280" r:id="rId25"/>
    <p:sldId id="282" r:id="rId26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9DBBA-400B-4803-A56C-588C95063317}" type="datetimeFigureOut">
              <a:rPr lang="en-US" smtClean="0"/>
              <a:pPr/>
              <a:t>7/27/2025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4309-A122-4D24-8DFD-53B8F6FFF2C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075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9731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6515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8514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9043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0153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6887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1231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789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19957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87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941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56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99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541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03978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7385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7/27/2025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22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14.wmf"/><Relationship Id="rId4" Type="http://schemas.openxmlformats.org/officeDocument/2006/relationships/image" Target="../media/image16.png"/><Relationship Id="rId9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25.png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29.png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30.png"/><Relationship Id="rId9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38.png"/><Relationship Id="rId7" Type="http://schemas.openxmlformats.org/officeDocument/2006/relationships/oleObject" Target="../embeddings/oleObject19.bin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wmf"/><Relationship Id="rId11" Type="http://schemas.openxmlformats.org/officeDocument/2006/relationships/image" Target="../media/image37.wmf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2.bin"/><Relationship Id="rId4" Type="http://schemas.openxmlformats.org/officeDocument/2006/relationships/image" Target="../media/image39.png"/><Relationship Id="rId9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lumMod val="75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Engineering mathematics</a:t>
            </a: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269778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System of First order ODEs: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Homogeneous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Non-homogeneous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3174" y="4000504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Lecture: 11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143000"/>
            <a:ext cx="3657600" cy="275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066800" y="4419600"/>
            <a:ext cx="716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system such as (1) of </a:t>
            </a:r>
            <a:r>
              <a:rPr lang="en-US" i="1" dirty="0"/>
              <a:t>n first-order equations is called a </a:t>
            </a:r>
            <a:r>
              <a:rPr lang="en-US" b="1" dirty="0"/>
              <a:t>first-order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7600" y="1905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5257800"/>
            <a:ext cx="655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each of the functions g</a:t>
            </a:r>
            <a:r>
              <a:rPr lang="en-US" baseline="-25000" dirty="0"/>
              <a:t>1</a:t>
            </a:r>
            <a:r>
              <a:rPr lang="en-US" dirty="0"/>
              <a:t>, g</a:t>
            </a:r>
            <a:r>
              <a:rPr lang="en-US" baseline="-25000" dirty="0"/>
              <a:t>2</a:t>
            </a:r>
            <a:r>
              <a:rPr lang="en-US" dirty="0"/>
              <a:t>, . . . , </a:t>
            </a:r>
            <a:r>
              <a:rPr lang="en-US" dirty="0" err="1"/>
              <a:t>g</a:t>
            </a:r>
            <a:r>
              <a:rPr lang="en-US" baseline="-25000" dirty="0" err="1"/>
              <a:t>n</a:t>
            </a:r>
            <a:r>
              <a:rPr lang="en-US" dirty="0"/>
              <a:t> in (1) is linear</a:t>
            </a:r>
          </a:p>
          <a:p>
            <a:r>
              <a:rPr lang="en-US" dirty="0"/>
              <a:t>in the dependent variables 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, we get the normal form of a </a:t>
            </a:r>
            <a:r>
              <a:rPr lang="en-US" b="1" dirty="0"/>
              <a:t>first-order system of linear equations</a:t>
            </a:r>
            <a:r>
              <a:rPr lang="en-US" dirty="0"/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lum bright="-18000" contrast="24000"/>
          </a:blip>
          <a:srcRect/>
          <a:stretch>
            <a:fillRect/>
          </a:stretch>
        </p:blipFill>
        <p:spPr bwMode="auto">
          <a:xfrm>
            <a:off x="1828800" y="1025394"/>
            <a:ext cx="5029200" cy="2441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914400" y="3657600"/>
            <a:ext cx="7239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refer to a system of the form given in (2) simply as a </a:t>
            </a:r>
            <a:r>
              <a:rPr lang="en-US" b="1" dirty="0"/>
              <a:t>linear system. We </a:t>
            </a:r>
            <a:r>
              <a:rPr lang="en-US" dirty="0"/>
              <a:t>assume that the coefficients </a:t>
            </a:r>
            <a:r>
              <a:rPr lang="en-US" dirty="0" err="1"/>
              <a:t>a</a:t>
            </a:r>
            <a:r>
              <a:rPr lang="en-US" baseline="-25000" dirty="0" err="1"/>
              <a:t>ij</a:t>
            </a:r>
            <a:r>
              <a:rPr lang="en-US" dirty="0"/>
              <a:t> as well as the functions </a:t>
            </a:r>
            <a:r>
              <a:rPr lang="en-US" i="1" dirty="0" err="1"/>
              <a:t>f</a:t>
            </a:r>
            <a:r>
              <a:rPr lang="en-US" baseline="-25000" dirty="0" err="1"/>
              <a:t>i</a:t>
            </a:r>
            <a:r>
              <a:rPr lang="en-US" dirty="0"/>
              <a:t> are continuous on a common interval I. </a:t>
            </a:r>
          </a:p>
          <a:p>
            <a:endParaRPr lang="en-US" dirty="0"/>
          </a:p>
          <a:p>
            <a:r>
              <a:rPr lang="en-US" dirty="0"/>
              <a:t>When </a:t>
            </a:r>
            <a:r>
              <a:rPr lang="en-US" i="1" dirty="0" err="1"/>
              <a:t>f</a:t>
            </a:r>
            <a:r>
              <a:rPr lang="en-US" baseline="-25000" dirty="0" err="1"/>
              <a:t>i</a:t>
            </a:r>
            <a:r>
              <a:rPr lang="en-US" dirty="0"/>
              <a:t>(t)= 0, for </a:t>
            </a:r>
            <a:r>
              <a:rPr lang="en-US" dirty="0" err="1"/>
              <a:t>i</a:t>
            </a:r>
            <a:r>
              <a:rPr lang="en-US" dirty="0"/>
              <a:t>= 1, 2, . . . , n, the linear system (2) is said to be </a:t>
            </a:r>
            <a:r>
              <a:rPr lang="en-US" b="1" dirty="0"/>
              <a:t>homogeneous; otherwise, it is </a:t>
            </a:r>
            <a:r>
              <a:rPr lang="en-US" b="1" dirty="0" err="1"/>
              <a:t>nonhomogeneous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772400" y="14478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28000"/>
          </a:blip>
          <a:srcRect/>
          <a:stretch>
            <a:fillRect/>
          </a:stretch>
        </p:blipFill>
        <p:spPr bwMode="auto">
          <a:xfrm>
            <a:off x="609600" y="228600"/>
            <a:ext cx="7701419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lum bright="-18000" contrast="20000"/>
          </a:blip>
          <a:srcRect/>
          <a:stretch>
            <a:fillRect/>
          </a:stretch>
        </p:blipFill>
        <p:spPr bwMode="auto">
          <a:xfrm>
            <a:off x="1219201" y="3429000"/>
            <a:ext cx="6629399" cy="3200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33400" y="289560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Then the system of linear first-order differential equations (2) can be written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4864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62484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524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18000"/>
          </a:blip>
          <a:srcRect/>
          <a:stretch>
            <a:fillRect/>
          </a:stretch>
        </p:blipFill>
        <p:spPr bwMode="auto">
          <a:xfrm>
            <a:off x="1142999" y="838200"/>
            <a:ext cx="688273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1000" contrast="18000"/>
          </a:blip>
          <a:srcRect/>
          <a:stretch>
            <a:fillRect/>
          </a:stretch>
        </p:blipFill>
        <p:spPr bwMode="auto">
          <a:xfrm>
            <a:off x="1143000" y="3657600"/>
            <a:ext cx="6858000" cy="2897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17000"/>
          </a:blip>
          <a:srcRect/>
          <a:stretch>
            <a:fillRect/>
          </a:stretch>
        </p:blipFill>
        <p:spPr bwMode="auto">
          <a:xfrm>
            <a:off x="990600" y="685799"/>
            <a:ext cx="7391400" cy="3530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66800" y="495300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solution X is a vector. Hence, important properties applied to vectors, such as superposition principle, linear combination, linear independence/ dependence, etc., are also applicable here for 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0000" contrast="14000"/>
          </a:blip>
          <a:srcRect/>
          <a:stretch>
            <a:fillRect/>
          </a:stretch>
        </p:blipFill>
        <p:spPr bwMode="auto">
          <a:xfrm>
            <a:off x="381000" y="609601"/>
            <a:ext cx="7696200" cy="4269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2000"/>
          </a:blip>
          <a:srcRect/>
          <a:stretch>
            <a:fillRect/>
          </a:stretch>
        </p:blipFill>
        <p:spPr bwMode="auto">
          <a:xfrm>
            <a:off x="762000" y="457200"/>
            <a:ext cx="7585788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1066799" y="4572000"/>
            <a:ext cx="7170057" cy="152400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762000" y="685800"/>
            <a:ext cx="7235092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21000"/>
          </a:blip>
          <a:srcRect/>
          <a:stretch>
            <a:fillRect/>
          </a:stretch>
        </p:blipFill>
        <p:spPr bwMode="auto">
          <a:xfrm>
            <a:off x="914399" y="457200"/>
            <a:ext cx="774188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9000" contrast="19000"/>
          </a:blip>
          <a:srcRect/>
          <a:stretch>
            <a:fillRect/>
          </a:stretch>
        </p:blipFill>
        <p:spPr bwMode="auto">
          <a:xfrm>
            <a:off x="609600" y="1981200"/>
            <a:ext cx="7507402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533400"/>
            <a:ext cx="38766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1447800"/>
            <a:ext cx="257556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800" y="2057400"/>
            <a:ext cx="239069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29000" y="4038600"/>
            <a:ext cx="2971800" cy="3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172200" y="14478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19812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where,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1800" y="27432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(2)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47800" y="4953000"/>
            <a:ext cx="5883729" cy="391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10200" y="5562600"/>
            <a:ext cx="2035969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5943600" y="5562600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9" imgW="139680" imgH="177480" progId="">
                  <p:embed/>
                </p:oleObj>
              </mc:Choice>
              <mc:Fallback>
                <p:oleObj name="Equation" r:id="rId9" imgW="139680" imgH="177480" progId="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562600"/>
                        <a:ext cx="45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447800" y="5867400"/>
            <a:ext cx="2081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2362200" y="5892800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12" imgW="139680" imgH="177480" progId="">
                  <p:embed/>
                </p:oleObj>
              </mc:Choice>
              <mc:Fallback>
                <p:oleObj name="Equation" r:id="rId12" imgW="139680" imgH="177480" progId="">
                  <p:embed/>
                  <p:pic>
                    <p:nvPicPr>
                      <p:cNvPr id="103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892800"/>
                        <a:ext cx="45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0" y="6324600"/>
            <a:ext cx="33528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57200"/>
            <a:ext cx="8033311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514850" y="3352800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Equation" r:id="rId4" imgW="114120" imgH="152280" progId="">
                  <p:embed/>
                </p:oleObj>
              </mc:Choice>
              <mc:Fallback>
                <p:oleObj name="Equation" r:id="rId4" imgW="114120" imgH="152280" progId="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52800"/>
                        <a:ext cx="114300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1905000" y="38100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Equation" r:id="rId6" imgW="114120" imgH="152280" progId="">
                  <p:embed/>
                </p:oleObj>
              </mc:Choice>
              <mc:Fallback>
                <p:oleObj name="Equation" r:id="rId6" imgW="114120" imgH="152280" progId="">
                  <p:embed/>
                  <p:pic>
                    <p:nvPicPr>
                      <p:cNvPr id="25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8100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3124200" y="36576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Equation" r:id="rId8" imgW="114120" imgH="152280" progId="">
                  <p:embed/>
                </p:oleObj>
              </mc:Choice>
              <mc:Fallback>
                <p:oleObj name="Equation" r:id="rId8" imgW="114120" imgH="152280" progId="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6576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3894408" y="3990536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Equation" r:id="rId9" imgW="114120" imgH="152280" progId="">
                  <p:embed/>
                </p:oleObj>
              </mc:Choice>
              <mc:Fallback>
                <p:oleObj name="Equation" r:id="rId9" imgW="114120" imgH="152280" progId="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408" y="3990536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4461804" y="3858064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Equation" r:id="rId10" imgW="114120" imgH="152280" progId="">
                  <p:embed/>
                </p:oleObj>
              </mc:Choice>
              <mc:Fallback>
                <p:oleObj name="Equation" r:id="rId10" imgW="114120" imgH="152280" progId="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804" y="3858064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5130310" y="3829928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Equation" r:id="rId11" imgW="114120" imgH="152280" progId="">
                  <p:embed/>
                </p:oleObj>
              </mc:Choice>
              <mc:Fallback>
                <p:oleObj name="Equation" r:id="rId11" imgW="114120" imgH="152280" progId="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310" y="3829928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6076072" y="38100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12" imgW="114120" imgH="152280" progId="">
                  <p:embed/>
                </p:oleObj>
              </mc:Choice>
              <mc:Fallback>
                <p:oleObj name="Equation" r:id="rId12" imgW="114120" imgH="152280" progId="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072" y="38100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6838072" y="3824068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13" imgW="114120" imgH="152280" progId="">
                  <p:embed/>
                </p:oleObj>
              </mc:Choice>
              <mc:Fallback>
                <p:oleObj name="Equation" r:id="rId13" imgW="114120" imgH="152280" progId="">
                  <p:embed/>
                  <p:pic>
                    <p:nvPicPr>
                      <p:cNvPr id="256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8072" y="3824068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13" name="Picture 13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143000" y="4456386"/>
            <a:ext cx="6019800" cy="1660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5410200" y="62484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Continue-...........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219200"/>
            <a:ext cx="742298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0" y="52578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Continue-...........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09600"/>
            <a:ext cx="815005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33400"/>
            <a:ext cx="824374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3962400"/>
            <a:ext cx="7697164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729446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Equation" r:id="rId5" imgW="114120" imgH="152280" progId="">
                  <p:embed/>
                </p:oleObj>
              </mc:Choice>
              <mc:Fallback>
                <p:oleObj name="Equation" r:id="rId5" imgW="114120" imgH="152280" progId="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446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3048000" y="45720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7" imgW="114120" imgH="152280" progId="">
                  <p:embed/>
                </p:oleObj>
              </mc:Choice>
              <mc:Fallback>
                <p:oleObj name="Equation" r:id="rId7" imgW="114120" imgH="152280" progId="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3790072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Equation" r:id="rId8" imgW="114120" imgH="152280" progId="">
                  <p:embed/>
                </p:oleObj>
              </mc:Choice>
              <mc:Fallback>
                <p:oleObj name="Equation" r:id="rId8" imgW="114120" imgH="152280" progId="">
                  <p:embed/>
                  <p:pic>
                    <p:nvPicPr>
                      <p:cNvPr id="28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072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4754884" y="5215596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Equation" r:id="rId9" imgW="114120" imgH="152280" progId="">
                  <p:embed/>
                </p:oleObj>
              </mc:Choice>
              <mc:Fallback>
                <p:oleObj name="Equation" r:id="rId9" imgW="114120" imgH="152280" progId="">
                  <p:embed/>
                  <p:pic>
                    <p:nvPicPr>
                      <p:cNvPr id="286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884" y="5215596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5686864" y="4868592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10" imgW="114120" imgH="152280" progId="">
                  <p:embed/>
                </p:oleObj>
              </mc:Choice>
              <mc:Fallback>
                <p:oleObj name="Equation" r:id="rId10" imgW="114120" imgH="152280" progId="">
                  <p:embed/>
                  <p:pic>
                    <p:nvPicPr>
                      <p:cNvPr id="286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864" y="4868592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7080740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11" imgW="114120" imgH="152280" progId="">
                  <p:embed/>
                </p:oleObj>
              </mc:Choice>
              <mc:Fallback>
                <p:oleObj name="Equation" r:id="rId11" imgW="114120" imgH="152280" progId="">
                  <p:embed/>
                  <p:pic>
                    <p:nvPicPr>
                      <p:cNvPr id="286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740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6400800" y="4876800"/>
          <a:ext cx="4381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quation" r:id="rId12" imgW="114120" imgH="152280" progId="">
                  <p:embed/>
                </p:oleObj>
              </mc:Choice>
              <mc:Fallback>
                <p:oleObj name="Equation" r:id="rId12" imgW="114120" imgH="152280" progId="">
                  <p:embed/>
                  <p:pic>
                    <p:nvPicPr>
                      <p:cNvPr id="286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876800"/>
                        <a:ext cx="4381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990600"/>
            <a:ext cx="792040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143000"/>
            <a:ext cx="819013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685800"/>
            <a:ext cx="7849683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 cstate="print">
            <a:lum bright="-12000" contrast="28000"/>
          </a:blip>
          <a:srcRect/>
          <a:stretch>
            <a:fillRect/>
          </a:stretch>
        </p:blipFill>
        <p:spPr bwMode="auto">
          <a:xfrm>
            <a:off x="196952" y="3886200"/>
            <a:ext cx="855044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31000"/>
          </a:blip>
          <a:srcRect/>
          <a:stretch>
            <a:fillRect/>
          </a:stretch>
        </p:blipFill>
        <p:spPr bwMode="auto">
          <a:xfrm>
            <a:off x="1295401" y="1447800"/>
            <a:ext cx="4191000" cy="1744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066800" y="4572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Homework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28600"/>
            <a:ext cx="2562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4" cstate="print">
            <a:lum bright="-14000" contrast="6000"/>
          </a:blip>
          <a:srcRect/>
          <a:stretch>
            <a:fillRect/>
          </a:stretch>
        </p:blipFill>
        <p:spPr bwMode="auto">
          <a:xfrm>
            <a:off x="457200" y="609600"/>
            <a:ext cx="7620000" cy="5722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3505200" y="2802984"/>
          <a:ext cx="214532" cy="214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5" imgW="114120" imgH="152280" progId="">
                  <p:embed/>
                </p:oleObj>
              </mc:Choice>
              <mc:Fallback>
                <p:oleObj name="Equation" r:id="rId5" imgW="114120" imgH="152280" progId="">
                  <p:embed/>
                  <p:pic>
                    <p:nvPicPr>
                      <p:cNvPr id="33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02984"/>
                        <a:ext cx="214532" cy="214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3657600" y="2955925"/>
          <a:ext cx="2143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7" imgW="114120" imgH="152280" progId="">
                  <p:embed/>
                </p:oleObj>
              </mc:Choice>
              <mc:Fallback>
                <p:oleObj name="Equation" r:id="rId7" imgW="114120" imgH="152280" progId="">
                  <p:embed/>
                  <p:pic>
                    <p:nvPicPr>
                      <p:cNvPr id="337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955925"/>
                        <a:ext cx="2143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4453815" y="2791264"/>
          <a:ext cx="2143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Equation" r:id="rId8" imgW="114120" imgH="152280" progId="">
                  <p:embed/>
                </p:oleObj>
              </mc:Choice>
              <mc:Fallback>
                <p:oleObj name="Equation" r:id="rId8" imgW="114120" imgH="152280" progId="">
                  <p:embed/>
                  <p:pic>
                    <p:nvPicPr>
                      <p:cNvPr id="33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815" y="2791264"/>
                        <a:ext cx="2143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1475936" y="2029264"/>
          <a:ext cx="2143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9" imgW="114120" imgH="152280" progId="">
                  <p:embed/>
                </p:oleObj>
              </mc:Choice>
              <mc:Fallback>
                <p:oleObj name="Equation" r:id="rId9" imgW="114120" imgH="152280" progId="">
                  <p:embed/>
                  <p:pic>
                    <p:nvPicPr>
                      <p:cNvPr id="338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936" y="2029264"/>
                        <a:ext cx="2143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3242604" y="2057400"/>
          <a:ext cx="289166" cy="249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Equation" r:id="rId10" imgW="114120" imgH="126720" progId="">
                  <p:embed/>
                </p:oleObj>
              </mc:Choice>
              <mc:Fallback>
                <p:oleObj name="Equation" r:id="rId10" imgW="114120" imgH="126720" progId="">
                  <p:embed/>
                  <p:pic>
                    <p:nvPicPr>
                      <p:cNvPr id="338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2604" y="2057400"/>
                        <a:ext cx="289166" cy="249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/>
        </p:nvGraphicFramePr>
        <p:xfrm>
          <a:off x="6152272" y="2791264"/>
          <a:ext cx="2143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12" imgW="114120" imgH="152280" progId="">
                  <p:embed/>
                </p:oleObj>
              </mc:Choice>
              <mc:Fallback>
                <p:oleObj name="Equation" r:id="rId12" imgW="114120" imgH="152280" progId="">
                  <p:embed/>
                  <p:pic>
                    <p:nvPicPr>
                      <p:cNvPr id="3380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2272" y="2791264"/>
                        <a:ext cx="2143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81000"/>
            <a:ext cx="69342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0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914400"/>
            <a:ext cx="6019800" cy="4419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669" y="5334000"/>
            <a:ext cx="2368731" cy="24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98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066800"/>
            <a:ext cx="1752600" cy="3213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524000"/>
            <a:ext cx="5791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83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4F217-E954-47E9-BD4E-8902D94A4FA7}"/>
              </a:ext>
            </a:extLst>
          </p:cNvPr>
          <p:cNvSpPr txBox="1"/>
          <p:nvPr/>
        </p:nvSpPr>
        <p:spPr>
          <a:xfrm>
            <a:off x="1828800" y="6096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5412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527</TotalTime>
  <Words>261</Words>
  <Application>Microsoft Office PowerPoint</Application>
  <PresentationFormat>On-screen Show (4:3)</PresentationFormat>
  <Paragraphs>28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Berlin Sans FB</vt:lpstr>
      <vt:lpstr>Calibri</vt:lpstr>
      <vt:lpstr>Century Gothic</vt:lpstr>
      <vt:lpstr>Wingdings</vt:lpstr>
      <vt:lpstr>Wingdings 3</vt:lpstr>
      <vt:lpstr>Wisp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masud</dc:creator>
  <cp:lastModifiedBy>Dr. Mohammad Sahadet Hossain</cp:lastModifiedBy>
  <cp:revision>56</cp:revision>
  <dcterms:created xsi:type="dcterms:W3CDTF">2015-11-14T06:14:24Z</dcterms:created>
  <dcterms:modified xsi:type="dcterms:W3CDTF">2025-07-27T03:20:58Z</dcterms:modified>
</cp:coreProperties>
</file>